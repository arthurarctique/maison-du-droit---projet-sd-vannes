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147480583" r:id="rId5"/>
    <p:sldId id="2147480582" r:id="rId6"/>
    <p:sldId id="261" r:id="rId7"/>
    <p:sldId id="2147480574" r:id="rId8"/>
    <p:sldId id="2147480577" r:id="rId9"/>
    <p:sldId id="2147480584" r:id="rId10"/>
    <p:sldId id="2147480578" r:id="rId11"/>
    <p:sldId id="2147480535" r:id="rId12"/>
    <p:sldId id="2147480580" r:id="rId13"/>
    <p:sldId id="2147480581" r:id="rId14"/>
    <p:sldId id="730" r:id="rId15"/>
    <p:sldId id="2147480571" r:id="rId16"/>
    <p:sldId id="2147480573" r:id="rId17"/>
    <p:sldId id="2147480523" r:id="rId18"/>
    <p:sldId id="2147480576" r:id="rId19"/>
    <p:sldId id="2147480575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BFECB15E-7049-4F0C-84E6-D29C773F506E}">
          <p14:sldIdLst>
            <p14:sldId id="2147480583"/>
          </p14:sldIdLst>
        </p14:section>
        <p14:section name="Section récapitulative" id="{DFB2EBCE-1BB3-4CCB-BF8F-F5F4F9544B40}">
          <p14:sldIdLst>
            <p14:sldId id="2147480582"/>
          </p14:sldIdLst>
        </p14:section>
        <p14:section name="Section 1" id="{CD9205A1-905F-4606-AD12-BFF881A52F55}">
          <p14:sldIdLst>
            <p14:sldId id="261"/>
            <p14:sldId id="2147480574"/>
            <p14:sldId id="2147480577"/>
            <p14:sldId id="2147480584"/>
            <p14:sldId id="2147480578"/>
          </p14:sldIdLst>
        </p14:section>
        <p14:section name="Section 4" id="{6E4141B4-4A83-42C7-801D-26C9FB38061C}">
          <p14:sldIdLst>
            <p14:sldId id="2147480535"/>
            <p14:sldId id="2147480580"/>
            <p14:sldId id="2147480581"/>
            <p14:sldId id="730"/>
            <p14:sldId id="2147480571"/>
            <p14:sldId id="2147480573"/>
            <p14:sldId id="2147480523"/>
            <p14:sldId id="2147480576"/>
            <p14:sldId id="21474805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A86"/>
    <a:srgbClr val="073A6A"/>
    <a:srgbClr val="6194E6"/>
    <a:srgbClr val="CBB780"/>
    <a:srgbClr val="073769"/>
    <a:srgbClr val="001E4F"/>
    <a:srgbClr val="0B2F4E"/>
    <a:srgbClr val="3B82F6"/>
    <a:srgbClr val="256FD1"/>
    <a:srgbClr val="163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DBCC8-4C39-4110-9DA9-8B77CD8C00C0}" v="730" dt="2025-12-05T11:10:53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816AD-31FB-4428-9A20-99995AF50684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D2130-65FC-4CF8-8EBA-4EEB01F8B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293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7" name="Google Shape;527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2B6-C9CD-2F4A-FAFA-09A9ADC63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412982-91CA-A744-DCE1-91A2B87B1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CD5E74-0097-8CDA-645A-5724AD6FB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0F0F53-573B-1EE4-A67F-E14EF3442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A722-9237-4894-AD14-8A89E73F7EB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442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>
          <a:extLst>
            <a:ext uri="{FF2B5EF4-FFF2-40B4-BE49-F238E27FC236}">
              <a16:creationId xmlns:a16="http://schemas.microsoft.com/office/drawing/2014/main" id="{5AC1DA04-7EEF-E776-FE70-5553982F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dfe0b786a0_0_0:notes">
            <a:extLst>
              <a:ext uri="{FF2B5EF4-FFF2-40B4-BE49-F238E27FC236}">
                <a16:creationId xmlns:a16="http://schemas.microsoft.com/office/drawing/2014/main" id="{509C936C-69BD-1091-10BD-F458664CA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7" name="Google Shape;527;g1dfe0b786a0_0_0:notes">
            <a:extLst>
              <a:ext uri="{FF2B5EF4-FFF2-40B4-BE49-F238E27FC236}">
                <a16:creationId xmlns:a16="http://schemas.microsoft.com/office/drawing/2014/main" id="{3B6B1394-25CB-EEC1-AC11-B15F74B99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959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D2130-65FC-4CF8-8EBA-4EEB01F8BB6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8045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>
          <a:extLst>
            <a:ext uri="{FF2B5EF4-FFF2-40B4-BE49-F238E27FC236}">
              <a16:creationId xmlns:a16="http://schemas.microsoft.com/office/drawing/2014/main" id="{C07F0A21-EBE2-F9A2-4FBD-FEE2D7E5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dfe0b786a0_0_0:notes">
            <a:extLst>
              <a:ext uri="{FF2B5EF4-FFF2-40B4-BE49-F238E27FC236}">
                <a16:creationId xmlns:a16="http://schemas.microsoft.com/office/drawing/2014/main" id="{F07D90C3-E22E-4DB8-5CBB-4C51E42B8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7" name="Google Shape;527;g1dfe0b786a0_0_0:notes">
            <a:extLst>
              <a:ext uri="{FF2B5EF4-FFF2-40B4-BE49-F238E27FC236}">
                <a16:creationId xmlns:a16="http://schemas.microsoft.com/office/drawing/2014/main" id="{E267E375-CCAA-5879-0BEA-250F57ED7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8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A722-9237-4894-AD14-8A89E73F7EB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07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>
          <a:extLst>
            <a:ext uri="{FF2B5EF4-FFF2-40B4-BE49-F238E27FC236}">
              <a16:creationId xmlns:a16="http://schemas.microsoft.com/office/drawing/2014/main" id="{F0849941-5528-0CB9-AEAA-E14BAFBC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dfe0b786a0_0_0:notes">
            <a:extLst>
              <a:ext uri="{FF2B5EF4-FFF2-40B4-BE49-F238E27FC236}">
                <a16:creationId xmlns:a16="http://schemas.microsoft.com/office/drawing/2014/main" id="{E37EDD5C-68BF-07EB-703D-842AAFB15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7" name="Google Shape;527;g1dfe0b786a0_0_0:notes">
            <a:extLst>
              <a:ext uri="{FF2B5EF4-FFF2-40B4-BE49-F238E27FC236}">
                <a16:creationId xmlns:a16="http://schemas.microsoft.com/office/drawing/2014/main" id="{D2E1ECD3-0D49-AA57-2E85-45150C459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321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F3F32-F888-9214-DF67-CD1427ED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B39764D-9831-46BC-1B6B-E58E9CA0A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A73EB5F-364B-3DA2-0039-892848B79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62C343-E9C5-99A0-A5AC-3FC4C94B4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A722-9237-4894-AD14-8A89E73F7EB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283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A722-9237-4894-AD14-8A89E73F7EB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78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2A4B1-D3F2-FD16-282B-23B4622B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5A516F-BFAC-83EF-8E69-5A27963A3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8BC4B98-BFCF-9508-6E8A-B1A0E62AF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0A5F86-5AB4-E4BD-E0FE-96F714AAB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A722-9237-4894-AD14-8A89E73F7EB7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560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56220-D1B2-BDF6-9D65-AAF75012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A518FE-EBD2-5B44-A0DC-7473A95FE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C1CEC15-C15A-F8B4-6590-6E52D5602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22F9AA-B2AF-4C8A-5830-FA1A2B41A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D2130-65FC-4CF8-8EBA-4EEB01F8BB6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156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4E947-B2A1-4717-EB75-125A7CA87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B65047-1A2A-F808-AD25-3623EE837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31C58A-6E28-62BD-3ED1-F2FF6907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12EC05-B9E9-C69B-436B-F47F3B01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F69B32-0C07-E14F-2052-1F2A5502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82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0022B-9553-4AB9-B120-609F764C7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2D6C37-16C8-7BD3-59A6-AC2AE07F5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6CD119-C22D-1090-40FD-B07C9E2D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8E0E3E-90DE-3F6D-B745-EA47971D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96FEC6-DC8C-8958-D071-F5D6A549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716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BC3D29-0C87-3659-156A-1DDB4A55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949539-0BC3-A1C1-0AF4-BF224DE2D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352261-1196-1308-6856-1D5F4F11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6E711E-1014-88EE-1519-A7F2D4E7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510372-7D5C-79FD-EAA2-06597410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35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6A7DD0-CAA2-8662-0FC5-8BE8785A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3F237-AAA5-088B-5715-E8194EC9C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2C4BB04-2A3F-1A9C-2FDC-377DD5E99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AC3AD6-0025-E04D-F7E2-5EAEC6CA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DCC201-F1B5-0553-4C89-4B0E52256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8D7C24-9687-3059-6470-0693086B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14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B962E-FE3F-2384-A4A1-B32A3982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EA194A-01BF-65DA-61A2-C9310DD16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DD0592-3686-C81E-1C5E-A78EAA722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98670C-535E-26D7-1ED4-2E002696B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130948-50A6-8EDA-0206-3572A86D0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CE24F45-AE79-B216-7B24-0450AC8B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F64071F-1D28-3E3A-0283-97E5EC2B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0366956-FBE1-4BC9-23D7-60789206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35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24C0F-EA9F-6EC6-029D-CC9AEFD6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39E341-E5BC-46FC-9F1F-A0904183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98C3CB3-4513-BA95-FE26-B556BD58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84D03F-3127-428A-6E77-7310CD5A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10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18FF12B-4ECA-1DAD-DCCC-E32DF501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57003E-32AE-8559-401D-9B77D95E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D1B1DA-2AC8-EB34-0EB9-A1B7CD56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40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FA4A4-D4E5-98E7-82C1-4913F7612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5B95E2-03FA-BAF5-B761-BA516ABA7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09F7A8-ABF2-5A64-2CE2-0F5DA98CF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D40BDC-3C81-F98F-DE87-948F9A471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4CFF0E-6186-70E4-3652-1DF7C626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9B1E8E-1251-BB0B-8547-9CE250EC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85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7A1FB-013D-32DA-09E8-0C7BDA8DD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E3DC21-E50F-4877-2396-A803DBB84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0A410F-9413-359E-1D45-F2D43DAE3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7DDEE4-DB99-0C39-A58E-6ADDB674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895F22-44AD-8C71-5E61-46680790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0B3BDA-D308-D3D9-6DC4-2C2C1CD6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2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A5C4D-B808-E062-55C2-76F7EDC1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E8F9379-1D42-14C7-649F-654AF8567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B9F1CD-973C-0210-092B-AC25F50B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AF9DD7-D739-366B-9E97-6E9D6409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AEA884-E248-D5E1-1C4F-A0C37BC7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080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AAA3265-1D7D-E09E-AEC2-629E9B07E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C0118A-F15E-FE16-D71F-A870A52D0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00D800-D094-062D-44AF-055192B1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5CEAC1-FBAB-D450-C338-82A585EA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2383FB-7F7C-2D15-B36A-68C5A92FE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1671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6453336"/>
            <a:ext cx="12192000" cy="4046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pic>
        <p:nvPicPr>
          <p:cNvPr id="8" name="Picture 2" descr="C:\Users\K006106\AppData\Local\Microsoft\Windows\Temporary Internet Files\Content.Outlook\MI3LLDU3\ca-Finistere-v-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2964" y="6453336"/>
            <a:ext cx="584617" cy="40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41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 userDrawn="1"/>
        </p:nvGrpSpPr>
        <p:grpSpPr>
          <a:xfrm rot="5400000">
            <a:off x="-3277708" y="3270110"/>
            <a:ext cx="6858001" cy="317784"/>
            <a:chOff x="-108520" y="6569968"/>
            <a:chExt cx="6215946" cy="288032"/>
          </a:xfrm>
        </p:grpSpPr>
        <p:sp>
          <p:nvSpPr>
            <p:cNvPr id="15" name="Parallélogramme 14"/>
            <p:cNvSpPr/>
            <p:nvPr/>
          </p:nvSpPr>
          <p:spPr>
            <a:xfrm>
              <a:off x="2579034" y="6569968"/>
              <a:ext cx="3528392" cy="288032"/>
            </a:xfrm>
            <a:prstGeom prst="parallelogram">
              <a:avLst/>
            </a:prstGeom>
            <a:solidFill>
              <a:srgbClr val="038B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16" name="Parallélogramme 15"/>
            <p:cNvSpPr/>
            <p:nvPr/>
          </p:nvSpPr>
          <p:spPr>
            <a:xfrm>
              <a:off x="-108520" y="6569968"/>
              <a:ext cx="3168352" cy="288032"/>
            </a:xfrm>
            <a:prstGeom prst="parallelogram">
              <a:avLst/>
            </a:prstGeom>
            <a:solidFill>
              <a:srgbClr val="A2C3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</p:grp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964" y="6515101"/>
            <a:ext cx="1148832" cy="18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83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978100" y="2623867"/>
            <a:ext cx="5881200" cy="18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052567" y="719333"/>
            <a:ext cx="1395600" cy="1780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78100" y="4502267"/>
            <a:ext cx="3694400" cy="9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7196667" y="1406800"/>
            <a:ext cx="4044400" cy="40444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7" name="Google Shape;17;p3"/>
          <p:cNvGrpSpPr/>
          <p:nvPr/>
        </p:nvGrpSpPr>
        <p:grpSpPr>
          <a:xfrm>
            <a:off x="4880405" y="533100"/>
            <a:ext cx="1746395" cy="343667"/>
            <a:chOff x="-6337521" y="4362225"/>
            <a:chExt cx="1309796" cy="257750"/>
          </a:xfrm>
        </p:grpSpPr>
        <p:sp>
          <p:nvSpPr>
            <p:cNvPr id="18" name="Google Shape;18;p3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4340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7611A8D-E60D-637F-375D-591BEFF05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F857CC-BCAE-C475-D5F1-BA4D65F38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5CD8CE-EB58-FB50-9C3C-10D065973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55CD6-F0D0-46BF-8C02-ECCF0F566840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73738E-07BF-868A-F990-3C35434AD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37D562-5B49-4974-10D5-598352E07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2E17B-9062-4087-99B0-B4DF895854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06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4E24DEE2-D13A-07CE-FC04-029CCFC04A7B}"/>
              </a:ext>
            </a:extLst>
          </p:cNvPr>
          <p:cNvCxnSpPr>
            <a:cxnSpLocks/>
          </p:cNvCxnSpPr>
          <p:nvPr/>
        </p:nvCxnSpPr>
        <p:spPr>
          <a:xfrm>
            <a:off x="2473967" y="5586728"/>
            <a:ext cx="7368050" cy="0"/>
          </a:xfrm>
          <a:prstGeom prst="line">
            <a:avLst/>
          </a:prstGeom>
          <a:ln w="88900">
            <a:solidFill>
              <a:srgbClr val="CBB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430A0689-CF4B-DA89-0315-46131035C492}"/>
              </a:ext>
            </a:extLst>
          </p:cNvPr>
          <p:cNvSpPr txBox="1"/>
          <p:nvPr/>
        </p:nvSpPr>
        <p:spPr>
          <a:xfrm>
            <a:off x="2487926" y="5986937"/>
            <a:ext cx="4067260" cy="400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Vendredi 5 décembre - 2025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0F21D8-624E-A63A-97D5-2DFE323579A7}"/>
              </a:ext>
            </a:extLst>
          </p:cNvPr>
          <p:cNvSpPr txBox="1"/>
          <p:nvPr/>
        </p:nvSpPr>
        <p:spPr>
          <a:xfrm>
            <a:off x="686382" y="2492171"/>
            <a:ext cx="10819236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999" b="1" dirty="0">
                <a:solidFill>
                  <a:srgbClr val="073A6A"/>
                </a:solidFill>
              </a:rPr>
              <a:t>Optimisation du Suivi et de l’Analyse </a:t>
            </a:r>
          </a:p>
          <a:p>
            <a:r>
              <a:rPr lang="fr-FR" sz="3999" b="1" dirty="0">
                <a:solidFill>
                  <a:srgbClr val="073A6A"/>
                </a:solidFill>
              </a:rPr>
              <a:t>des Permanences Juridiques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D49D40-DF54-88AF-5A48-FFA80CE96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497" y="5767912"/>
            <a:ext cx="571501" cy="770336"/>
          </a:xfrm>
          <a:prstGeom prst="rect">
            <a:avLst/>
          </a:prstGeom>
        </p:spPr>
      </p:pic>
      <p:sp>
        <p:nvSpPr>
          <p:cNvPr id="6" name="Sous-titre 2">
            <a:extLst>
              <a:ext uri="{FF2B5EF4-FFF2-40B4-BE49-F238E27FC236}">
                <a16:creationId xmlns:a16="http://schemas.microsoft.com/office/drawing/2014/main" id="{A6E912D5-C78C-8754-1FE0-1F36B5DD0CCB}"/>
              </a:ext>
            </a:extLst>
          </p:cNvPr>
          <p:cNvSpPr>
            <a:spLocks noGrp="1"/>
          </p:cNvSpPr>
          <p:nvPr/>
        </p:nvSpPr>
        <p:spPr>
          <a:xfrm>
            <a:off x="1585992" y="5006538"/>
            <a:ext cx="9144000" cy="5211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Matéo ESTEBAN – Rocher GOUETH MANIANGA – Arthur Le DEVEHAT</a:t>
            </a:r>
          </a:p>
        </p:txBody>
      </p:sp>
      <p:pic>
        <p:nvPicPr>
          <p:cNvPr id="7" name="Picture 6" descr="Catalogue de formations 2023 - IUT de Vannes">
            <a:extLst>
              <a:ext uri="{FF2B5EF4-FFF2-40B4-BE49-F238E27FC236}">
                <a16:creationId xmlns:a16="http://schemas.microsoft.com/office/drawing/2014/main" id="{ADA8FB8B-C7F6-CADA-7884-5F640131F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553" y="5667195"/>
            <a:ext cx="1353824" cy="101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UBSUniversité de Bretagne-Sud // L'expérimentation smartgrid-solenn">
            <a:extLst>
              <a:ext uri="{FF2B5EF4-FFF2-40B4-BE49-F238E27FC236}">
                <a16:creationId xmlns:a16="http://schemas.microsoft.com/office/drawing/2014/main" id="{E4125ED5-A073-9547-2224-1A911780D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160" y="5567913"/>
            <a:ext cx="1614676" cy="113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93C2325-3201-8C35-2E72-7795C81BB6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4419"/>
          <a:stretch>
            <a:fillRect/>
          </a:stretch>
        </p:blipFill>
        <p:spPr>
          <a:xfrm>
            <a:off x="0" y="-116776"/>
            <a:ext cx="12191998" cy="18269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831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683348-2356-7373-4444-5E0D64BCE9A1}"/>
              </a:ext>
            </a:extLst>
          </p:cNvPr>
          <p:cNvSpPr/>
          <p:nvPr/>
        </p:nvSpPr>
        <p:spPr>
          <a:xfrm>
            <a:off x="0" y="0"/>
            <a:ext cx="3692236" cy="6858000"/>
          </a:xfrm>
          <a:prstGeom prst="rect">
            <a:avLst/>
          </a:prstGeom>
          <a:solidFill>
            <a:srgbClr val="3B81FF"/>
          </a:solidFill>
          <a:ln>
            <a:solidFill>
              <a:srgbClr val="3B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3" name="Zoom de résumé 2">
                <a:extLst>
                  <a:ext uri="{FF2B5EF4-FFF2-40B4-BE49-F238E27FC236}">
                    <a16:creationId xmlns:a16="http://schemas.microsoft.com/office/drawing/2014/main" id="{D96072B1-7DD0-0B91-73D7-4283568E53F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5606278"/>
                  </p:ext>
                </p:extLst>
              </p:nvPr>
            </p:nvGraphicFramePr>
            <p:xfrm>
              <a:off x="475105" y="-1282"/>
              <a:ext cx="12693963" cy="5719911"/>
            </p:xfrm>
            <a:graphic>
              <a:graphicData uri="http://schemas.microsoft.com/office/powerpoint/2016/summaryzoom">
                <psuz:summaryZm>
                  <psuz:gridLayout/>
                </psuz:summaryZm>
              </a:graphicData>
            </a:graphic>
          </p:graphicFrame>
        </mc:Choice>
        <mc:Fallback>
          <p:grpSp>
            <p:nvGrpSpPr>
              <p:cNvPr id="3" name="Zoom de résumé 2">
                <a:extLst>
                  <a:ext uri="{FF2B5EF4-FFF2-40B4-BE49-F238E27FC236}">
                    <a16:creationId xmlns:a16="http://schemas.microsoft.com/office/drawing/2014/main" id="{D96072B1-7DD0-0B91-73D7-4283568E53F7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475105" y="-1282"/>
                <a:ext cx="12693963" cy="5719911"/>
                <a:chOff x="475105" y="-1282"/>
                <a:chExt cx="12693963" cy="5719911"/>
              </a:xfrm>
            </p:grpSpPr>
          </p:grp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566EC072-A9B1-0B95-6FBA-9EC92EF45AB1}"/>
              </a:ext>
            </a:extLst>
          </p:cNvPr>
          <p:cNvSpPr txBox="1"/>
          <p:nvPr/>
        </p:nvSpPr>
        <p:spPr>
          <a:xfrm>
            <a:off x="5773432" y="2075506"/>
            <a:ext cx="4915904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Bef>
                <a:spcPts val="1800"/>
              </a:spcBef>
              <a:spcAft>
                <a:spcPts val="1800"/>
              </a:spcAft>
              <a:buClr>
                <a:srgbClr val="0B2F4E"/>
              </a:buClr>
              <a:buFont typeface="Wingdings" panose="05000000000000000000" pitchFamily="2" charset="2"/>
              <a:buChar char="§"/>
            </a:pPr>
            <a:r>
              <a:rPr lang="en" sz="4400" dirty="0">
                <a:latin typeface="Aptos Display (En-têtes)"/>
              </a:rPr>
              <a:t>Contexte</a:t>
            </a:r>
          </a:p>
          <a:p>
            <a:pPr marL="571500" indent="-571500">
              <a:spcBef>
                <a:spcPts val="1800"/>
              </a:spcBef>
              <a:spcAft>
                <a:spcPts val="1800"/>
              </a:spcAft>
              <a:buClr>
                <a:srgbClr val="0B2F4E"/>
              </a:buClr>
              <a:buFont typeface="Wingdings" panose="05000000000000000000" pitchFamily="2" charset="2"/>
              <a:buChar char="§"/>
            </a:pPr>
            <a:r>
              <a:rPr lang="en" sz="4400" dirty="0">
                <a:latin typeface="Aptos Display (En-têtes)"/>
                <a:sym typeface="Archivo"/>
              </a:rPr>
              <a:t>Structure</a:t>
            </a:r>
            <a:endParaRPr lang="en" sz="4400" dirty="0">
              <a:latin typeface="Aptos Display (En-têtes)"/>
            </a:endParaRPr>
          </a:p>
          <a:p>
            <a:pPr marL="571500" indent="-571500">
              <a:spcBef>
                <a:spcPts val="1800"/>
              </a:spcBef>
              <a:spcAft>
                <a:spcPts val="1800"/>
              </a:spcAft>
              <a:buClr>
                <a:srgbClr val="0B2F4E"/>
              </a:buClr>
              <a:buFont typeface="Wingdings" panose="05000000000000000000" pitchFamily="2" charset="2"/>
              <a:buChar char="§"/>
            </a:pPr>
            <a:r>
              <a:rPr lang="en" sz="4400" dirty="0">
                <a:latin typeface="Aptos Display (En-têtes)"/>
              </a:rPr>
              <a:t>Maquette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7B769C-4E20-F392-5535-44BA1B00600F}"/>
              </a:ext>
            </a:extLst>
          </p:cNvPr>
          <p:cNvSpPr/>
          <p:nvPr/>
        </p:nvSpPr>
        <p:spPr>
          <a:xfrm>
            <a:off x="810490" y="1219200"/>
            <a:ext cx="2881745" cy="498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6BB3FAF-B35A-66F9-8E91-8CA88F845FC4}"/>
              </a:ext>
            </a:extLst>
          </p:cNvPr>
          <p:cNvCxnSpPr/>
          <p:nvPr/>
        </p:nvCxnSpPr>
        <p:spPr>
          <a:xfrm>
            <a:off x="475105" y="3525982"/>
            <a:ext cx="2538259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D2C5B23A-4E99-D3C5-1934-DA661015A334}"/>
              </a:ext>
            </a:extLst>
          </p:cNvPr>
          <p:cNvSpPr txBox="1"/>
          <p:nvPr/>
        </p:nvSpPr>
        <p:spPr>
          <a:xfrm>
            <a:off x="1295400" y="1239981"/>
            <a:ext cx="1646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/>
              <a:t>Sommaire</a:t>
            </a:r>
            <a:endParaRPr lang="fr-FR" sz="2000" b="1"/>
          </a:p>
        </p:txBody>
      </p:sp>
    </p:spTree>
    <p:extLst>
      <p:ext uri="{BB962C8B-B14F-4D97-AF65-F5344CB8AC3E}">
        <p14:creationId xmlns:p14="http://schemas.microsoft.com/office/powerpoint/2010/main" val="2273443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35"/>
          <p:cNvGrpSpPr/>
          <p:nvPr/>
        </p:nvGrpSpPr>
        <p:grpSpPr>
          <a:xfrm>
            <a:off x="5306000" y="9333"/>
            <a:ext cx="6886000" cy="6858000"/>
            <a:chOff x="3979500" y="7000"/>
            <a:chExt cx="5164500" cy="5143500"/>
          </a:xfrm>
        </p:grpSpPr>
        <p:sp>
          <p:nvSpPr>
            <p:cNvPr id="530" name="Google Shape;530;p35"/>
            <p:cNvSpPr/>
            <p:nvPr/>
          </p:nvSpPr>
          <p:spPr>
            <a:xfrm flipH="1">
              <a:off x="3979500" y="7000"/>
              <a:ext cx="5164500" cy="5143500"/>
            </a:xfrm>
            <a:prstGeom prst="rtTriangl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1" name="Google Shape;531;p35"/>
            <p:cNvSpPr/>
            <p:nvPr/>
          </p:nvSpPr>
          <p:spPr>
            <a:xfrm rot="-2699590">
              <a:off x="4521184" y="3647078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rgbClr val="CBB7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2" name="Google Shape;532;p35"/>
            <p:cNvSpPr/>
            <p:nvPr/>
          </p:nvSpPr>
          <p:spPr>
            <a:xfrm rot="-2699590">
              <a:off x="7184489" y="22450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rgbClr val="CBB7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3" name="Google Shape;533;p35"/>
            <p:cNvSpPr/>
            <p:nvPr/>
          </p:nvSpPr>
          <p:spPr>
            <a:xfrm rot="-2699590">
              <a:off x="6716516" y="11668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4" name="Google Shape;534;p35"/>
            <p:cNvSpPr/>
            <p:nvPr/>
          </p:nvSpPr>
          <p:spPr>
            <a:xfrm rot="-2699590">
              <a:off x="5940285" y="35715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5" name="Google Shape;535;p35"/>
            <p:cNvSpPr/>
            <p:nvPr/>
          </p:nvSpPr>
          <p:spPr>
            <a:xfrm>
              <a:off x="6777914" y="28911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36" name="Google Shape;536;p35"/>
          <p:cNvSpPr txBox="1">
            <a:spLocks noGrp="1"/>
          </p:cNvSpPr>
          <p:nvPr>
            <p:ph type="title"/>
          </p:nvPr>
        </p:nvSpPr>
        <p:spPr>
          <a:xfrm>
            <a:off x="310108" y="3131149"/>
            <a:ext cx="8468097" cy="100150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5400" dirty="0">
                <a:latin typeface="Aptos Display (En-têtes)"/>
              </a:rPr>
              <a:t>Contexte &amp; problématiques</a:t>
            </a:r>
            <a:endParaRPr sz="5400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8" name="Google Shape;538;p35"/>
          <p:cNvSpPr txBox="1">
            <a:spLocks noGrp="1"/>
          </p:cNvSpPr>
          <p:nvPr>
            <p:ph type="title" idx="2"/>
          </p:nvPr>
        </p:nvSpPr>
        <p:spPr>
          <a:xfrm>
            <a:off x="1052567" y="1075319"/>
            <a:ext cx="1395600" cy="1780400"/>
          </a:xfrm>
          <a:prstGeom prst="rect">
            <a:avLst/>
          </a:prstGeom>
          <a:solidFill>
            <a:srgbClr val="163E64"/>
          </a:solidFill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01</a:t>
            </a:r>
            <a:endParaRPr>
              <a:solidFill>
                <a:schemeClr val="bg1"/>
              </a:solidFill>
            </a:endParaRPr>
          </a:p>
        </p:txBody>
      </p:sp>
      <p:grpSp>
        <p:nvGrpSpPr>
          <p:cNvPr id="540" name="Google Shape;540;p35"/>
          <p:cNvGrpSpPr/>
          <p:nvPr/>
        </p:nvGrpSpPr>
        <p:grpSpPr>
          <a:xfrm>
            <a:off x="7207260" y="1392335"/>
            <a:ext cx="4214149" cy="4388175"/>
            <a:chOff x="5405445" y="1044251"/>
            <a:chExt cx="3160612" cy="3291131"/>
          </a:xfrm>
        </p:grpSpPr>
        <p:sp>
          <p:nvSpPr>
            <p:cNvPr id="541" name="Google Shape;541;p35"/>
            <p:cNvSpPr/>
            <p:nvPr/>
          </p:nvSpPr>
          <p:spPr>
            <a:xfrm rot="-2700000">
              <a:off x="7675121" y="13796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2" name="Google Shape;542;p35"/>
            <p:cNvSpPr/>
            <p:nvPr/>
          </p:nvSpPr>
          <p:spPr>
            <a:xfrm rot="-2700000">
              <a:off x="5300209" y="388504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6" name="Picture 4" descr="Catalogue de formations 2023 - IUT de Vannes">
            <a:extLst>
              <a:ext uri="{FF2B5EF4-FFF2-40B4-BE49-F238E27FC236}">
                <a16:creationId xmlns:a16="http://schemas.microsoft.com/office/drawing/2014/main" id="{2F1809B8-DACB-0CD1-AE65-8FE22EB36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8" y="62080"/>
            <a:ext cx="997219" cy="74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6DE8A9F-91BC-23B4-413D-7FB338F99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67" y="39658"/>
            <a:ext cx="571501" cy="770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0646-0535-3C3E-B949-9FACABAE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rallélogramme 21">
            <a:extLst>
              <a:ext uri="{FF2B5EF4-FFF2-40B4-BE49-F238E27FC236}">
                <a16:creationId xmlns:a16="http://schemas.microsoft.com/office/drawing/2014/main" id="{CD69AA81-6CCD-F504-9ABC-5F42157E0082}"/>
              </a:ext>
            </a:extLst>
          </p:cNvPr>
          <p:cNvSpPr/>
          <p:nvPr/>
        </p:nvSpPr>
        <p:spPr>
          <a:xfrm>
            <a:off x="-151362" y="-35321"/>
            <a:ext cx="6605501" cy="373324"/>
          </a:xfrm>
          <a:prstGeom prst="parallelogram">
            <a:avLst/>
          </a:prstGeom>
          <a:solidFill>
            <a:srgbClr val="163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fr-FR" b="1" dirty="0">
                <a:solidFill>
                  <a:schemeClr val="bg1"/>
                </a:solidFill>
                <a:latin typeface="Calibri"/>
              </a:rPr>
              <a:t>Contexte du projet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94939CC-3D90-A95C-CF2D-B188825852C3}"/>
              </a:ext>
            </a:extLst>
          </p:cNvPr>
          <p:cNvSpPr txBox="1"/>
          <p:nvPr/>
        </p:nvSpPr>
        <p:spPr>
          <a:xfrm>
            <a:off x="1246707" y="821286"/>
            <a:ext cx="7763481" cy="4563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00848E"/>
              </a:buClr>
              <a:buSzPct val="50000"/>
              <a:buFont typeface="Wingdings 3" panose="05040102010807070707" pitchFamily="18" charset="2"/>
              <a:buChar char=""/>
            </a:pPr>
            <a:r>
              <a:rPr lang="fr-FR" sz="2400" b="1" dirty="0">
                <a:solidFill>
                  <a:srgbClr val="086375"/>
                </a:solidFill>
              </a:rPr>
              <a:t>Droit famille et du travail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00848E"/>
              </a:buClr>
              <a:buSzPct val="50000"/>
              <a:buFont typeface="Wingdings 3" panose="05040102010807070707" pitchFamily="18" charset="2"/>
              <a:buChar char=""/>
            </a:pPr>
            <a:r>
              <a:rPr lang="fr-FR" sz="2400" b="1" dirty="0">
                <a:solidFill>
                  <a:srgbClr val="086375"/>
                </a:solidFill>
              </a:rPr>
              <a:t>Justifier d’une activité aux financeurs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00848E"/>
              </a:buClr>
              <a:buSzPct val="50000"/>
              <a:buFont typeface="Wingdings 3" panose="05040102010807070707" pitchFamily="18" charset="2"/>
              <a:buChar char=""/>
            </a:pPr>
            <a:r>
              <a:rPr lang="fr-FR" sz="2400" b="1" dirty="0">
                <a:solidFill>
                  <a:srgbClr val="086375"/>
                </a:solidFill>
              </a:rPr>
              <a:t>Différents types de financeurs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00848E"/>
              </a:buClr>
              <a:buSzPct val="50000"/>
              <a:buFont typeface="Wingdings 3" panose="05040102010807070707" pitchFamily="18" charset="2"/>
              <a:buChar char=""/>
            </a:pPr>
            <a:r>
              <a:rPr lang="fr-FR" sz="2400" b="1" dirty="0">
                <a:solidFill>
                  <a:srgbClr val="086375"/>
                </a:solidFill>
              </a:rPr>
              <a:t>3 à 500 permanences à saisir par mois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00848E"/>
              </a:buClr>
              <a:buSzPct val="50000"/>
              <a:buFont typeface="Wingdings 3" panose="05040102010807070707" pitchFamily="18" charset="2"/>
              <a:buChar char=""/>
            </a:pPr>
            <a:r>
              <a:rPr lang="fr-FR" sz="2400" b="1" dirty="0">
                <a:solidFill>
                  <a:srgbClr val="086375"/>
                </a:solidFill>
              </a:rPr>
              <a:t>Toutes les communes du Morbihan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Clr>
                <a:srgbClr val="00848E"/>
              </a:buClr>
              <a:buSzPct val="50000"/>
              <a:buFont typeface="Wingdings 3" panose="05040102010807070707" pitchFamily="18" charset="2"/>
              <a:buChar char=""/>
            </a:pPr>
            <a:endParaRPr lang="fr-FR" sz="2400" b="1" dirty="0">
              <a:solidFill>
                <a:srgbClr val="08637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A4C423-DF03-0EFC-13CB-F33809D70FD5}"/>
              </a:ext>
            </a:extLst>
          </p:cNvPr>
          <p:cNvSpPr/>
          <p:nvPr/>
        </p:nvSpPr>
        <p:spPr>
          <a:xfrm>
            <a:off x="8753475" y="2050930"/>
            <a:ext cx="3221312" cy="23410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CB9F6-9702-2EBF-345E-4DC38D0A03A7}"/>
              </a:ext>
            </a:extLst>
          </p:cNvPr>
          <p:cNvSpPr/>
          <p:nvPr/>
        </p:nvSpPr>
        <p:spPr>
          <a:xfrm>
            <a:off x="7840937" y="4282505"/>
            <a:ext cx="3086100" cy="19260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98D01C-9687-609D-6D31-B70ED05CF988}"/>
              </a:ext>
            </a:extLst>
          </p:cNvPr>
          <p:cNvSpPr/>
          <p:nvPr/>
        </p:nvSpPr>
        <p:spPr>
          <a:xfrm>
            <a:off x="7771689" y="264221"/>
            <a:ext cx="3086100" cy="22863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8" name="Picture 4" descr="Dashboard - Free seo and web icons">
            <a:extLst>
              <a:ext uri="{FF2B5EF4-FFF2-40B4-BE49-F238E27FC236}">
                <a16:creationId xmlns:a16="http://schemas.microsoft.com/office/drawing/2014/main" id="{03C340C0-EC7D-1647-C969-35A290AD0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791" y="4229318"/>
            <a:ext cx="2032390" cy="2032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1B4487-B5AE-3EA3-3BDD-47B9DE37B020}"/>
              </a:ext>
            </a:extLst>
          </p:cNvPr>
          <p:cNvSpPr/>
          <p:nvPr/>
        </p:nvSpPr>
        <p:spPr>
          <a:xfrm>
            <a:off x="0" y="6070708"/>
            <a:ext cx="12191999" cy="790332"/>
          </a:xfrm>
          <a:prstGeom prst="rect">
            <a:avLst/>
          </a:prstGeom>
          <a:solidFill>
            <a:srgbClr val="163E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EAD483-1B2D-9F77-4ED7-70CB1BC6719C}"/>
              </a:ext>
            </a:extLst>
          </p:cNvPr>
          <p:cNvSpPr txBox="1"/>
          <p:nvPr/>
        </p:nvSpPr>
        <p:spPr>
          <a:xfrm>
            <a:off x="4168837" y="6161083"/>
            <a:ext cx="3732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  <a:spcAft>
                <a:spcPts val="2400"/>
              </a:spcAft>
              <a:tabLst>
                <a:tab pos="444411" algn="l"/>
                <a:tab pos="536468" algn="l"/>
              </a:tabLst>
            </a:pPr>
            <a:r>
              <a:rPr lang="fr-FR" altLang="fr-FR" sz="1400" kern="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Présentation</a:t>
            </a:r>
            <a:r>
              <a:rPr lang="fr-FR" alt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altLang="fr-FR" sz="1400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alt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Structure </a:t>
            </a:r>
            <a:r>
              <a:rPr lang="fr-FR" altLang="fr-FR" sz="1400" b="1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Maquette</a:t>
            </a:r>
            <a:r>
              <a:rPr lang="fr-FR" sz="1400" b="1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361BEE4A-C3C9-3BAE-1C19-3D970CD0CE7D}"/>
              </a:ext>
            </a:extLst>
          </p:cNvPr>
          <p:cNvSpPr>
            <a:spLocks noGrp="1"/>
          </p:cNvSpPr>
          <p:nvPr/>
        </p:nvSpPr>
        <p:spPr>
          <a:xfrm>
            <a:off x="1433741" y="6475226"/>
            <a:ext cx="8362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Matéo ESTEBAN - Rocher GOUETH MANIANGA -Arthur Le DEVEHAT </a:t>
            </a:r>
          </a:p>
        </p:txBody>
      </p:sp>
      <p:pic>
        <p:nvPicPr>
          <p:cNvPr id="19" name="Picture 4" descr="Catalogue de formations 2023 - IUT de Vannes">
            <a:extLst>
              <a:ext uri="{FF2B5EF4-FFF2-40B4-BE49-F238E27FC236}">
                <a16:creationId xmlns:a16="http://schemas.microsoft.com/office/drawing/2014/main" id="{3162A32E-42AC-444C-08DF-79CAD9799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3775" y="6380031"/>
            <a:ext cx="637292" cy="47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2AA6888B-C3DC-3A14-7C52-E093514363D1}"/>
              </a:ext>
            </a:extLst>
          </p:cNvPr>
          <p:cNvSpPr txBox="1"/>
          <p:nvPr/>
        </p:nvSpPr>
        <p:spPr>
          <a:xfrm>
            <a:off x="69800" y="6314971"/>
            <a:ext cx="56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CC2854-0609-51A9-739A-5B64E9F04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231" y="327082"/>
            <a:ext cx="1537015" cy="2071768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7B14E4D-36A3-97EB-FA4F-95EB9580D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4525" y="2599885"/>
            <a:ext cx="1611312" cy="152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631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>
          <a:extLst>
            <a:ext uri="{FF2B5EF4-FFF2-40B4-BE49-F238E27FC236}">
              <a16:creationId xmlns:a16="http://schemas.microsoft.com/office/drawing/2014/main" id="{E8FB2CF0-9922-A1E1-5589-DB2605F67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35">
            <a:extLst>
              <a:ext uri="{FF2B5EF4-FFF2-40B4-BE49-F238E27FC236}">
                <a16:creationId xmlns:a16="http://schemas.microsoft.com/office/drawing/2014/main" id="{E440110A-2698-34D4-959C-626FF3665AF4}"/>
              </a:ext>
            </a:extLst>
          </p:cNvPr>
          <p:cNvGrpSpPr/>
          <p:nvPr/>
        </p:nvGrpSpPr>
        <p:grpSpPr>
          <a:xfrm>
            <a:off x="5306000" y="9333"/>
            <a:ext cx="6886000" cy="6858000"/>
            <a:chOff x="3979500" y="7000"/>
            <a:chExt cx="5164500" cy="5143500"/>
          </a:xfrm>
        </p:grpSpPr>
        <p:sp>
          <p:nvSpPr>
            <p:cNvPr id="530" name="Google Shape;530;p35">
              <a:extLst>
                <a:ext uri="{FF2B5EF4-FFF2-40B4-BE49-F238E27FC236}">
                  <a16:creationId xmlns:a16="http://schemas.microsoft.com/office/drawing/2014/main" id="{75FF281F-7594-1ACD-2711-9E8FF061A097}"/>
                </a:ext>
              </a:extLst>
            </p:cNvPr>
            <p:cNvSpPr/>
            <p:nvPr/>
          </p:nvSpPr>
          <p:spPr>
            <a:xfrm flipH="1">
              <a:off x="3979500" y="7000"/>
              <a:ext cx="5164500" cy="5143500"/>
            </a:xfrm>
            <a:prstGeom prst="rtTriangl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1" name="Google Shape;531;p35">
              <a:extLst>
                <a:ext uri="{FF2B5EF4-FFF2-40B4-BE49-F238E27FC236}">
                  <a16:creationId xmlns:a16="http://schemas.microsoft.com/office/drawing/2014/main" id="{EFF49497-0B82-B669-7BFA-0D7A7E9B151E}"/>
                </a:ext>
              </a:extLst>
            </p:cNvPr>
            <p:cNvSpPr/>
            <p:nvPr/>
          </p:nvSpPr>
          <p:spPr>
            <a:xfrm rot="-2699590">
              <a:off x="4521184" y="3647078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rgbClr val="CBB7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2" name="Google Shape;532;p35">
              <a:extLst>
                <a:ext uri="{FF2B5EF4-FFF2-40B4-BE49-F238E27FC236}">
                  <a16:creationId xmlns:a16="http://schemas.microsoft.com/office/drawing/2014/main" id="{3443DDF4-BF7D-28A4-964F-F7C7B44AFC43}"/>
                </a:ext>
              </a:extLst>
            </p:cNvPr>
            <p:cNvSpPr/>
            <p:nvPr/>
          </p:nvSpPr>
          <p:spPr>
            <a:xfrm rot="-2699590">
              <a:off x="7184489" y="22450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rgbClr val="CBB7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3" name="Google Shape;533;p35">
              <a:extLst>
                <a:ext uri="{FF2B5EF4-FFF2-40B4-BE49-F238E27FC236}">
                  <a16:creationId xmlns:a16="http://schemas.microsoft.com/office/drawing/2014/main" id="{C75F8A97-4140-29EE-022A-6F35372511C1}"/>
                </a:ext>
              </a:extLst>
            </p:cNvPr>
            <p:cNvSpPr/>
            <p:nvPr/>
          </p:nvSpPr>
          <p:spPr>
            <a:xfrm rot="-2699590">
              <a:off x="6716516" y="11668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4" name="Google Shape;534;p35">
              <a:extLst>
                <a:ext uri="{FF2B5EF4-FFF2-40B4-BE49-F238E27FC236}">
                  <a16:creationId xmlns:a16="http://schemas.microsoft.com/office/drawing/2014/main" id="{C4A6B194-FD5E-B3D8-E39E-5BD67F89CB71}"/>
                </a:ext>
              </a:extLst>
            </p:cNvPr>
            <p:cNvSpPr/>
            <p:nvPr/>
          </p:nvSpPr>
          <p:spPr>
            <a:xfrm rot="-2699590">
              <a:off x="5940285" y="35715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5" name="Google Shape;535;p35">
              <a:extLst>
                <a:ext uri="{FF2B5EF4-FFF2-40B4-BE49-F238E27FC236}">
                  <a16:creationId xmlns:a16="http://schemas.microsoft.com/office/drawing/2014/main" id="{F34B0F29-51A3-8F8B-074F-D87FA5BF1270}"/>
                </a:ext>
              </a:extLst>
            </p:cNvPr>
            <p:cNvSpPr/>
            <p:nvPr/>
          </p:nvSpPr>
          <p:spPr>
            <a:xfrm>
              <a:off x="6777914" y="28911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36" name="Google Shape;536;p35">
            <a:extLst>
              <a:ext uri="{FF2B5EF4-FFF2-40B4-BE49-F238E27FC236}">
                <a16:creationId xmlns:a16="http://schemas.microsoft.com/office/drawing/2014/main" id="{95B9F367-6EAF-D73C-9D47-9A62F06989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8317" y="3463457"/>
            <a:ext cx="6016762" cy="110574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5400" dirty="0">
                <a:latin typeface="Aptos Display (En-têtes)"/>
                <a:sym typeface="Archivo"/>
              </a:rPr>
              <a:t>Structure du projet</a:t>
            </a:r>
            <a:endParaRPr sz="5400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8" name="Google Shape;538;p35">
            <a:extLst>
              <a:ext uri="{FF2B5EF4-FFF2-40B4-BE49-F238E27FC236}">
                <a16:creationId xmlns:a16="http://schemas.microsoft.com/office/drawing/2014/main" id="{BB298B10-BFB6-9775-2D54-1AF729B841E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2567" y="1138139"/>
            <a:ext cx="1395600" cy="1780400"/>
          </a:xfrm>
          <a:prstGeom prst="rect">
            <a:avLst/>
          </a:prstGeom>
          <a:solidFill>
            <a:srgbClr val="163E64"/>
          </a:solidFill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</a:rPr>
              <a:t>02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540" name="Google Shape;540;p35">
            <a:extLst>
              <a:ext uri="{FF2B5EF4-FFF2-40B4-BE49-F238E27FC236}">
                <a16:creationId xmlns:a16="http://schemas.microsoft.com/office/drawing/2014/main" id="{77885CC2-24A3-9247-2871-E6C3E2B3A740}"/>
              </a:ext>
            </a:extLst>
          </p:cNvPr>
          <p:cNvGrpSpPr/>
          <p:nvPr/>
        </p:nvGrpSpPr>
        <p:grpSpPr>
          <a:xfrm>
            <a:off x="7207260" y="1392335"/>
            <a:ext cx="4214149" cy="4388175"/>
            <a:chOff x="5405445" y="1044251"/>
            <a:chExt cx="3160612" cy="3291131"/>
          </a:xfrm>
        </p:grpSpPr>
        <p:sp>
          <p:nvSpPr>
            <p:cNvPr id="541" name="Google Shape;541;p35">
              <a:extLst>
                <a:ext uri="{FF2B5EF4-FFF2-40B4-BE49-F238E27FC236}">
                  <a16:creationId xmlns:a16="http://schemas.microsoft.com/office/drawing/2014/main" id="{F431C2D1-5331-6B2C-9C36-02E9D8ACEC27}"/>
                </a:ext>
              </a:extLst>
            </p:cNvPr>
            <p:cNvSpPr/>
            <p:nvPr/>
          </p:nvSpPr>
          <p:spPr>
            <a:xfrm rot="-2700000">
              <a:off x="7675121" y="13796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2" name="Google Shape;542;p35">
              <a:extLst>
                <a:ext uri="{FF2B5EF4-FFF2-40B4-BE49-F238E27FC236}">
                  <a16:creationId xmlns:a16="http://schemas.microsoft.com/office/drawing/2014/main" id="{0B9741BF-BB44-DE0D-44B6-4C18A7383893}"/>
                </a:ext>
              </a:extLst>
            </p:cNvPr>
            <p:cNvSpPr/>
            <p:nvPr/>
          </p:nvSpPr>
          <p:spPr>
            <a:xfrm rot="-2700000">
              <a:off x="5300209" y="388504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6" name="Picture 4" descr="Catalogue de formations 2023 - IUT de Vannes">
            <a:extLst>
              <a:ext uri="{FF2B5EF4-FFF2-40B4-BE49-F238E27FC236}">
                <a16:creationId xmlns:a16="http://schemas.microsoft.com/office/drawing/2014/main" id="{39BA244E-C0B4-DD5D-F58F-99A73E115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8" y="62080"/>
            <a:ext cx="997219" cy="74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06066DAE-9CE4-24F7-1660-EB955DE29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67" y="39658"/>
            <a:ext cx="571501" cy="77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2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393B98-4B1F-2572-EEA2-682DAE2146B8}"/>
              </a:ext>
            </a:extLst>
          </p:cNvPr>
          <p:cNvSpPr/>
          <p:nvPr/>
        </p:nvSpPr>
        <p:spPr>
          <a:xfrm>
            <a:off x="2725443" y="1989882"/>
            <a:ext cx="6732322" cy="7651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E280BB-DB28-27F3-3A28-E1A452C852A4}"/>
              </a:ext>
            </a:extLst>
          </p:cNvPr>
          <p:cNvSpPr/>
          <p:nvPr/>
        </p:nvSpPr>
        <p:spPr>
          <a:xfrm>
            <a:off x="2725443" y="4080281"/>
            <a:ext cx="6732321" cy="765172"/>
          </a:xfrm>
          <a:prstGeom prst="rect">
            <a:avLst/>
          </a:prstGeom>
          <a:solidFill>
            <a:srgbClr val="154A86"/>
          </a:solidFill>
          <a:ln>
            <a:solidFill>
              <a:srgbClr val="154A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53AFD6-9C27-4B6D-6AF9-7C654E8ACA81}"/>
              </a:ext>
            </a:extLst>
          </p:cNvPr>
          <p:cNvSpPr/>
          <p:nvPr/>
        </p:nvSpPr>
        <p:spPr>
          <a:xfrm>
            <a:off x="2725444" y="3010132"/>
            <a:ext cx="6732320" cy="765172"/>
          </a:xfrm>
          <a:prstGeom prst="rect">
            <a:avLst/>
          </a:prstGeom>
          <a:solidFill>
            <a:srgbClr val="256FD1"/>
          </a:solidFill>
          <a:ln>
            <a:solidFill>
              <a:srgbClr val="256F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A820C32-ED45-2E9D-2C95-5C261D329189}"/>
              </a:ext>
            </a:extLst>
          </p:cNvPr>
          <p:cNvSpPr/>
          <p:nvPr/>
        </p:nvSpPr>
        <p:spPr>
          <a:xfrm>
            <a:off x="2448757" y="2960424"/>
            <a:ext cx="932156" cy="921058"/>
          </a:xfrm>
          <a:prstGeom prst="ellipse">
            <a:avLst/>
          </a:prstGeom>
          <a:solidFill>
            <a:srgbClr val="256FD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B3C98A5A-D56F-D5D4-4E22-A59A848FFAAF}"/>
              </a:ext>
            </a:extLst>
          </p:cNvPr>
          <p:cNvSpPr/>
          <p:nvPr/>
        </p:nvSpPr>
        <p:spPr>
          <a:xfrm>
            <a:off x="2448757" y="3992778"/>
            <a:ext cx="932156" cy="921058"/>
          </a:xfrm>
          <a:prstGeom prst="ellipse">
            <a:avLst/>
          </a:prstGeom>
          <a:solidFill>
            <a:srgbClr val="154A86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3E8EA6A-0093-E354-759B-5E4F86B9C632}"/>
              </a:ext>
            </a:extLst>
          </p:cNvPr>
          <p:cNvSpPr/>
          <p:nvPr/>
        </p:nvSpPr>
        <p:spPr>
          <a:xfrm>
            <a:off x="2448757" y="1878574"/>
            <a:ext cx="932156" cy="921058"/>
          </a:xfrm>
          <a:prstGeom prst="ellipse">
            <a:avLst/>
          </a:prstGeom>
          <a:solidFill>
            <a:srgbClr val="3B82F6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A760E54-5110-D996-4A2E-2A4CF1CDF6A7}"/>
              </a:ext>
            </a:extLst>
          </p:cNvPr>
          <p:cNvSpPr txBox="1"/>
          <p:nvPr/>
        </p:nvSpPr>
        <p:spPr>
          <a:xfrm>
            <a:off x="3737684" y="1866977"/>
            <a:ext cx="581801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2400"/>
              </a:spcBef>
            </a:pPr>
            <a:r>
              <a:rPr lang="fr-FR" sz="2400" b="1" dirty="0">
                <a:solidFill>
                  <a:schemeClr val="bg1"/>
                </a:solidFill>
              </a:rPr>
              <a:t>Excel</a:t>
            </a:r>
          </a:p>
          <a:p>
            <a:pPr>
              <a:lnSpc>
                <a:spcPct val="200000"/>
              </a:lnSpc>
              <a:spcBef>
                <a:spcPts val="2400"/>
              </a:spcBef>
            </a:pPr>
            <a:r>
              <a:rPr lang="fr-FR" sz="2400" b="1" dirty="0">
                <a:solidFill>
                  <a:schemeClr val="bg1"/>
                </a:solidFill>
              </a:rPr>
              <a:t>ETL</a:t>
            </a:r>
          </a:p>
          <a:p>
            <a:pPr>
              <a:lnSpc>
                <a:spcPct val="200000"/>
              </a:lnSpc>
              <a:spcBef>
                <a:spcPts val="2400"/>
              </a:spcBef>
            </a:pPr>
            <a:r>
              <a:rPr lang="fr-FR" sz="2400" b="1" dirty="0">
                <a:solidFill>
                  <a:schemeClr val="bg1"/>
                </a:solidFill>
              </a:rPr>
              <a:t>Application web</a:t>
            </a:r>
          </a:p>
          <a:p>
            <a:pPr>
              <a:spcBef>
                <a:spcPts val="2400"/>
              </a:spcBef>
            </a:pPr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359572D-E7E8-F2B7-A8B3-BFEDDB6FFB66}"/>
              </a:ext>
            </a:extLst>
          </p:cNvPr>
          <p:cNvSpPr txBox="1"/>
          <p:nvPr/>
        </p:nvSpPr>
        <p:spPr>
          <a:xfrm>
            <a:off x="2603749" y="1825019"/>
            <a:ext cx="311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3487A5B-79D8-F48F-E46E-0DF84DA8B78B}"/>
              </a:ext>
            </a:extLst>
          </p:cNvPr>
          <p:cNvSpPr txBox="1"/>
          <p:nvPr/>
        </p:nvSpPr>
        <p:spPr>
          <a:xfrm>
            <a:off x="2614103" y="3939385"/>
            <a:ext cx="311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12A824F-4027-0836-092D-747CDBAC299D}"/>
              </a:ext>
            </a:extLst>
          </p:cNvPr>
          <p:cNvSpPr txBox="1"/>
          <p:nvPr/>
        </p:nvSpPr>
        <p:spPr>
          <a:xfrm>
            <a:off x="2605228" y="2900703"/>
            <a:ext cx="311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6" name="Parallélogramme 25">
            <a:extLst>
              <a:ext uri="{FF2B5EF4-FFF2-40B4-BE49-F238E27FC236}">
                <a16:creationId xmlns:a16="http://schemas.microsoft.com/office/drawing/2014/main" id="{3AC38058-7850-6691-EA17-965D12291E50}"/>
              </a:ext>
            </a:extLst>
          </p:cNvPr>
          <p:cNvSpPr/>
          <p:nvPr/>
        </p:nvSpPr>
        <p:spPr>
          <a:xfrm>
            <a:off x="-151362" y="-35321"/>
            <a:ext cx="6605501" cy="373324"/>
          </a:xfrm>
          <a:prstGeom prst="parallelogram">
            <a:avLst/>
          </a:prstGeom>
          <a:solidFill>
            <a:srgbClr val="163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fr-FR" b="1" dirty="0">
                <a:solidFill>
                  <a:schemeClr val="bg1"/>
                </a:solidFill>
                <a:latin typeface="Calibri"/>
              </a:rPr>
              <a:t>Structure du projet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0BB493-17BC-9E94-4AC2-7AA64C465F0D}"/>
              </a:ext>
            </a:extLst>
          </p:cNvPr>
          <p:cNvSpPr/>
          <p:nvPr/>
        </p:nvSpPr>
        <p:spPr>
          <a:xfrm>
            <a:off x="0" y="6070708"/>
            <a:ext cx="12192000" cy="790332"/>
          </a:xfrm>
          <a:prstGeom prst="rect">
            <a:avLst/>
          </a:prstGeom>
          <a:solidFill>
            <a:srgbClr val="163E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Espace réservé du pied de page 9">
            <a:extLst>
              <a:ext uri="{FF2B5EF4-FFF2-40B4-BE49-F238E27FC236}">
                <a16:creationId xmlns:a16="http://schemas.microsoft.com/office/drawing/2014/main" id="{3B0E90A7-D150-9529-E289-3D3C28C6B1E9}"/>
              </a:ext>
            </a:extLst>
          </p:cNvPr>
          <p:cNvSpPr>
            <a:spLocks noGrp="1"/>
          </p:cNvSpPr>
          <p:nvPr/>
        </p:nvSpPr>
        <p:spPr>
          <a:xfrm>
            <a:off x="1433741" y="6475226"/>
            <a:ext cx="8879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Matéo ESTEBAN - Rocher GOUETH MANIANGA -Arthur Le DEVEHAT 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2EF72AC-169F-A503-ED97-D43D1EC66E06}"/>
              </a:ext>
            </a:extLst>
          </p:cNvPr>
          <p:cNvSpPr txBox="1"/>
          <p:nvPr/>
        </p:nvSpPr>
        <p:spPr>
          <a:xfrm>
            <a:off x="4168837" y="6161083"/>
            <a:ext cx="3086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  <a:spcAft>
                <a:spcPts val="2400"/>
              </a:spcAft>
              <a:tabLst>
                <a:tab pos="444411" algn="l"/>
                <a:tab pos="536468" algn="l"/>
              </a:tabLst>
            </a:pPr>
            <a:r>
              <a:rPr lang="fr-FR" alt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Contexte </a:t>
            </a:r>
            <a:r>
              <a:rPr lang="fr-FR" altLang="fr-FR" sz="1400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altLang="fr-FR" sz="1400" kern="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Structure</a:t>
            </a:r>
            <a:r>
              <a:rPr lang="fr-FR" alt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altLang="fr-FR" sz="1400" b="1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Maquette</a:t>
            </a:r>
            <a:r>
              <a:rPr lang="fr-FR" sz="1400" b="1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endParaRPr lang="fr-F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63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animBg="1"/>
      <p:bldP spid="14" grpId="0" uiExpand="1" animBg="1"/>
      <p:bldP spid="16" grpId="0" animBg="1"/>
      <p:bldP spid="2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>
          <a:extLst>
            <a:ext uri="{FF2B5EF4-FFF2-40B4-BE49-F238E27FC236}">
              <a16:creationId xmlns:a16="http://schemas.microsoft.com/office/drawing/2014/main" id="{F27D4E63-ED69-B20D-D53B-E582A4E6E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35">
            <a:extLst>
              <a:ext uri="{FF2B5EF4-FFF2-40B4-BE49-F238E27FC236}">
                <a16:creationId xmlns:a16="http://schemas.microsoft.com/office/drawing/2014/main" id="{47C16660-976F-6253-B37A-B5B4F9927065}"/>
              </a:ext>
            </a:extLst>
          </p:cNvPr>
          <p:cNvGrpSpPr/>
          <p:nvPr/>
        </p:nvGrpSpPr>
        <p:grpSpPr>
          <a:xfrm>
            <a:off x="5306000" y="9333"/>
            <a:ext cx="6886000" cy="6858000"/>
            <a:chOff x="3979500" y="7000"/>
            <a:chExt cx="5164500" cy="5143500"/>
          </a:xfrm>
        </p:grpSpPr>
        <p:sp>
          <p:nvSpPr>
            <p:cNvPr id="530" name="Google Shape;530;p35">
              <a:extLst>
                <a:ext uri="{FF2B5EF4-FFF2-40B4-BE49-F238E27FC236}">
                  <a16:creationId xmlns:a16="http://schemas.microsoft.com/office/drawing/2014/main" id="{54FC8FB3-CB60-4F12-01E6-1B57A02F97E9}"/>
                </a:ext>
              </a:extLst>
            </p:cNvPr>
            <p:cNvSpPr/>
            <p:nvPr/>
          </p:nvSpPr>
          <p:spPr>
            <a:xfrm flipH="1">
              <a:off x="3979500" y="7000"/>
              <a:ext cx="5164500" cy="5143500"/>
            </a:xfrm>
            <a:prstGeom prst="rtTriangle">
              <a:avLst/>
            </a:prstGeom>
            <a:solidFill>
              <a:srgbClr val="154A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1" name="Google Shape;531;p35">
              <a:extLst>
                <a:ext uri="{FF2B5EF4-FFF2-40B4-BE49-F238E27FC236}">
                  <a16:creationId xmlns:a16="http://schemas.microsoft.com/office/drawing/2014/main" id="{963C5070-A2BC-E48F-BA2F-A58993B3AEF5}"/>
                </a:ext>
              </a:extLst>
            </p:cNvPr>
            <p:cNvSpPr/>
            <p:nvPr/>
          </p:nvSpPr>
          <p:spPr>
            <a:xfrm rot="-2699590">
              <a:off x="4521184" y="3647078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rgbClr val="CBB7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2" name="Google Shape;532;p35">
              <a:extLst>
                <a:ext uri="{FF2B5EF4-FFF2-40B4-BE49-F238E27FC236}">
                  <a16:creationId xmlns:a16="http://schemas.microsoft.com/office/drawing/2014/main" id="{C1029BFA-9D12-FE3C-161E-6EB1718E015A}"/>
                </a:ext>
              </a:extLst>
            </p:cNvPr>
            <p:cNvSpPr/>
            <p:nvPr/>
          </p:nvSpPr>
          <p:spPr>
            <a:xfrm rot="-2699590">
              <a:off x="7184489" y="22450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rgbClr val="CBB7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3" name="Google Shape;533;p35">
              <a:extLst>
                <a:ext uri="{FF2B5EF4-FFF2-40B4-BE49-F238E27FC236}">
                  <a16:creationId xmlns:a16="http://schemas.microsoft.com/office/drawing/2014/main" id="{5BFBB2BC-DAC5-1074-B3AA-10094190BFAB}"/>
                </a:ext>
              </a:extLst>
            </p:cNvPr>
            <p:cNvSpPr/>
            <p:nvPr/>
          </p:nvSpPr>
          <p:spPr>
            <a:xfrm rot="-2699590">
              <a:off x="6716516" y="11668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4" name="Google Shape;534;p35">
              <a:extLst>
                <a:ext uri="{FF2B5EF4-FFF2-40B4-BE49-F238E27FC236}">
                  <a16:creationId xmlns:a16="http://schemas.microsoft.com/office/drawing/2014/main" id="{1172EC41-05FB-8899-2211-78E2155B05F7}"/>
                </a:ext>
              </a:extLst>
            </p:cNvPr>
            <p:cNvSpPr/>
            <p:nvPr/>
          </p:nvSpPr>
          <p:spPr>
            <a:xfrm rot="-2699590">
              <a:off x="5940285" y="35715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5" name="Google Shape;535;p35">
              <a:extLst>
                <a:ext uri="{FF2B5EF4-FFF2-40B4-BE49-F238E27FC236}">
                  <a16:creationId xmlns:a16="http://schemas.microsoft.com/office/drawing/2014/main" id="{63B47754-ABD7-6115-632A-6AE962FF1913}"/>
                </a:ext>
              </a:extLst>
            </p:cNvPr>
            <p:cNvSpPr/>
            <p:nvPr/>
          </p:nvSpPr>
          <p:spPr>
            <a:xfrm>
              <a:off x="6777914" y="28911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36" name="Google Shape;536;p35">
            <a:extLst>
              <a:ext uri="{FF2B5EF4-FFF2-40B4-BE49-F238E27FC236}">
                <a16:creationId xmlns:a16="http://schemas.microsoft.com/office/drawing/2014/main" id="{01745125-0828-9D22-4AB6-A02DC6D95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2198" y="3293784"/>
            <a:ext cx="6405631" cy="135005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5400" dirty="0">
                <a:latin typeface="Aptos Display (En-têtes)"/>
              </a:rPr>
              <a:t>Démo de la maquette</a:t>
            </a:r>
            <a:endParaRPr sz="5400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8" name="Google Shape;538;p35">
            <a:extLst>
              <a:ext uri="{FF2B5EF4-FFF2-40B4-BE49-F238E27FC236}">
                <a16:creationId xmlns:a16="http://schemas.microsoft.com/office/drawing/2014/main" id="{4B20C692-61E2-8E57-4AB0-068B41A6241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2567" y="1138139"/>
            <a:ext cx="1395600" cy="1780400"/>
          </a:xfrm>
          <a:prstGeom prst="rect">
            <a:avLst/>
          </a:prstGeom>
          <a:solidFill>
            <a:srgbClr val="154A86"/>
          </a:solidFill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</a:rPr>
              <a:t>03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540" name="Google Shape;540;p35">
            <a:extLst>
              <a:ext uri="{FF2B5EF4-FFF2-40B4-BE49-F238E27FC236}">
                <a16:creationId xmlns:a16="http://schemas.microsoft.com/office/drawing/2014/main" id="{52E3E98F-AC89-C205-87F2-56C27EDBA6B4}"/>
              </a:ext>
            </a:extLst>
          </p:cNvPr>
          <p:cNvGrpSpPr/>
          <p:nvPr/>
        </p:nvGrpSpPr>
        <p:grpSpPr>
          <a:xfrm>
            <a:off x="7207260" y="1392335"/>
            <a:ext cx="4214149" cy="4388175"/>
            <a:chOff x="5405445" y="1044251"/>
            <a:chExt cx="3160612" cy="3291131"/>
          </a:xfrm>
        </p:grpSpPr>
        <p:sp>
          <p:nvSpPr>
            <p:cNvPr id="541" name="Google Shape;541;p35">
              <a:extLst>
                <a:ext uri="{FF2B5EF4-FFF2-40B4-BE49-F238E27FC236}">
                  <a16:creationId xmlns:a16="http://schemas.microsoft.com/office/drawing/2014/main" id="{80DC46EE-E34E-7F7C-204A-3F2DB92E92DB}"/>
                </a:ext>
              </a:extLst>
            </p:cNvPr>
            <p:cNvSpPr/>
            <p:nvPr/>
          </p:nvSpPr>
          <p:spPr>
            <a:xfrm rot="-2700000">
              <a:off x="7675121" y="13796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2" name="Google Shape;542;p35">
              <a:extLst>
                <a:ext uri="{FF2B5EF4-FFF2-40B4-BE49-F238E27FC236}">
                  <a16:creationId xmlns:a16="http://schemas.microsoft.com/office/drawing/2014/main" id="{062FB366-75E3-E18E-5E01-A23220BA8486}"/>
                </a:ext>
              </a:extLst>
            </p:cNvPr>
            <p:cNvSpPr/>
            <p:nvPr/>
          </p:nvSpPr>
          <p:spPr>
            <a:xfrm rot="-2700000">
              <a:off x="5300209" y="388504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6" name="Picture 4" descr="Catalogue de formations 2023 - IUT de Vannes">
            <a:extLst>
              <a:ext uri="{FF2B5EF4-FFF2-40B4-BE49-F238E27FC236}">
                <a16:creationId xmlns:a16="http://schemas.microsoft.com/office/drawing/2014/main" id="{5A4E8AF2-B225-46EA-42B9-D3353F675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8" y="62080"/>
            <a:ext cx="997219" cy="74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2DAFEF9-7FD5-E51C-FCC8-6378FC0FC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67" y="39658"/>
            <a:ext cx="571501" cy="77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92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3CD095-528F-5245-3288-4FD7C2631565}"/>
              </a:ext>
            </a:extLst>
          </p:cNvPr>
          <p:cNvSpPr/>
          <p:nvPr/>
        </p:nvSpPr>
        <p:spPr>
          <a:xfrm>
            <a:off x="-99060" y="-53340"/>
            <a:ext cx="12352020" cy="700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77CA5-D579-50EB-CB28-4B38567D08C7}"/>
              </a:ext>
            </a:extLst>
          </p:cNvPr>
          <p:cNvSpPr/>
          <p:nvPr/>
        </p:nvSpPr>
        <p:spPr>
          <a:xfrm>
            <a:off x="274759" y="1216004"/>
            <a:ext cx="243839" cy="312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689FA-3E75-C850-E639-28065C9ADA26}"/>
              </a:ext>
            </a:extLst>
          </p:cNvPr>
          <p:cNvSpPr/>
          <p:nvPr/>
        </p:nvSpPr>
        <p:spPr>
          <a:xfrm>
            <a:off x="11272561" y="-53340"/>
            <a:ext cx="243839" cy="7391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5A52D35-E469-C7A2-E077-E7151AAB536A}"/>
              </a:ext>
            </a:extLst>
          </p:cNvPr>
          <p:cNvSpPr txBox="1"/>
          <p:nvPr/>
        </p:nvSpPr>
        <p:spPr>
          <a:xfrm>
            <a:off x="518598" y="2894063"/>
            <a:ext cx="11501770" cy="11079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19" tIns="45709" rIns="91419" bIns="4570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6600" b="1" dirty="0">
                <a:ea typeface="Calibri"/>
                <a:cs typeface="Calibri"/>
              </a:rPr>
              <a:t>Merci de nous avoir écouté</a:t>
            </a:r>
          </a:p>
        </p:txBody>
      </p:sp>
    </p:spTree>
    <p:extLst>
      <p:ext uri="{BB962C8B-B14F-4D97-AF65-F5344CB8AC3E}">
        <p14:creationId xmlns:p14="http://schemas.microsoft.com/office/powerpoint/2010/main" val="31896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5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22695-8EC2-949E-D856-CDC616027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81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90E79F56-C517-45EA-C940-99A06BA03FB2}"/>
              </a:ext>
            </a:extLst>
          </p:cNvPr>
          <p:cNvCxnSpPr>
            <a:cxnSpLocks/>
          </p:cNvCxnSpPr>
          <p:nvPr/>
        </p:nvCxnSpPr>
        <p:spPr>
          <a:xfrm>
            <a:off x="2473967" y="5586728"/>
            <a:ext cx="7368050" cy="0"/>
          </a:xfrm>
          <a:prstGeom prst="line">
            <a:avLst/>
          </a:prstGeom>
          <a:ln w="88900">
            <a:solidFill>
              <a:srgbClr val="2D5E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305C1AA9-D904-8B00-C267-C3C1EE3C6CF4}"/>
              </a:ext>
            </a:extLst>
          </p:cNvPr>
          <p:cNvSpPr txBox="1"/>
          <p:nvPr/>
        </p:nvSpPr>
        <p:spPr>
          <a:xfrm>
            <a:off x="2487926" y="5986937"/>
            <a:ext cx="4067260" cy="400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Mardi 2 décembre - 2025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DD2248A-869E-708A-01D4-4F71DE03370D}"/>
              </a:ext>
            </a:extLst>
          </p:cNvPr>
          <p:cNvSpPr txBox="1"/>
          <p:nvPr/>
        </p:nvSpPr>
        <p:spPr>
          <a:xfrm>
            <a:off x="686382" y="2492171"/>
            <a:ext cx="10819236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999" b="1" dirty="0">
                <a:solidFill>
                  <a:srgbClr val="2D5EC2"/>
                </a:solidFill>
              </a:rPr>
              <a:t>Optimisation du Suivi et de l’Analyse </a:t>
            </a:r>
          </a:p>
          <a:p>
            <a:r>
              <a:rPr lang="fr-FR" sz="3999" b="1" dirty="0">
                <a:solidFill>
                  <a:srgbClr val="2D5EC2"/>
                </a:solidFill>
              </a:rPr>
              <a:t>des Permanences Juridiques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E992B4-70D6-5900-6BA8-60B308577287}"/>
              </a:ext>
            </a:extLst>
          </p:cNvPr>
          <p:cNvSpPr/>
          <p:nvPr/>
        </p:nvSpPr>
        <p:spPr>
          <a:xfrm>
            <a:off x="0" y="6424300"/>
            <a:ext cx="12192000" cy="4844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7581D9-EBEF-9375-B4AC-4150666960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83"/>
          <a:stretch>
            <a:fillRect/>
          </a:stretch>
        </p:blipFill>
        <p:spPr bwMode="auto">
          <a:xfrm>
            <a:off x="-1" y="-79428"/>
            <a:ext cx="12191999" cy="180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FBD00BCB-8426-1D1B-AF10-50B5A3C3A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497" y="5767912"/>
            <a:ext cx="571501" cy="770336"/>
          </a:xfrm>
          <a:prstGeom prst="rect">
            <a:avLst/>
          </a:prstGeom>
        </p:spPr>
      </p:pic>
      <p:sp>
        <p:nvSpPr>
          <p:cNvPr id="5" name="Sous-titre 2">
            <a:extLst>
              <a:ext uri="{FF2B5EF4-FFF2-40B4-BE49-F238E27FC236}">
                <a16:creationId xmlns:a16="http://schemas.microsoft.com/office/drawing/2014/main" id="{7739A1E7-69A1-32EB-C52C-2AF885C78455}"/>
              </a:ext>
            </a:extLst>
          </p:cNvPr>
          <p:cNvSpPr>
            <a:spLocks noGrp="1"/>
          </p:cNvSpPr>
          <p:nvPr/>
        </p:nvSpPr>
        <p:spPr>
          <a:xfrm>
            <a:off x="1330448" y="44817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Matéo ESTEBAN – Rocher GOUETH MANIANGA – Arthur Le DEVEHAT</a:t>
            </a:r>
          </a:p>
          <a:p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Tuesday 02 </a:t>
            </a:r>
            <a:r>
              <a:rPr lang="fr-F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december</a:t>
            </a: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2025</a:t>
            </a:r>
          </a:p>
        </p:txBody>
      </p:sp>
      <p:pic>
        <p:nvPicPr>
          <p:cNvPr id="1030" name="Picture 6" descr="Catalogue de formations 2023 - IUT de Vannes">
            <a:extLst>
              <a:ext uri="{FF2B5EF4-FFF2-40B4-BE49-F238E27FC236}">
                <a16:creationId xmlns:a16="http://schemas.microsoft.com/office/drawing/2014/main" id="{358C1565-15D4-0204-A70F-B38B33825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553" y="5667195"/>
            <a:ext cx="1353824" cy="101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BSUniversité de Bretagne-Sud // L'expérimentation smartgrid-solenn">
            <a:extLst>
              <a:ext uri="{FF2B5EF4-FFF2-40B4-BE49-F238E27FC236}">
                <a16:creationId xmlns:a16="http://schemas.microsoft.com/office/drawing/2014/main" id="{3748A322-30DA-507A-6898-CEDB590D3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160" y="5567913"/>
            <a:ext cx="1614676" cy="113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506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>
          <a:extLst>
            <a:ext uri="{FF2B5EF4-FFF2-40B4-BE49-F238E27FC236}">
              <a16:creationId xmlns:a16="http://schemas.microsoft.com/office/drawing/2014/main" id="{1EBDF7DA-0F8B-A240-86F7-73B69FFA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35">
            <a:extLst>
              <a:ext uri="{FF2B5EF4-FFF2-40B4-BE49-F238E27FC236}">
                <a16:creationId xmlns:a16="http://schemas.microsoft.com/office/drawing/2014/main" id="{C2C921FC-0E7C-23B2-A8CF-21FC624B07D2}"/>
              </a:ext>
            </a:extLst>
          </p:cNvPr>
          <p:cNvGrpSpPr/>
          <p:nvPr/>
        </p:nvGrpSpPr>
        <p:grpSpPr>
          <a:xfrm>
            <a:off x="5306000" y="9333"/>
            <a:ext cx="6886000" cy="6858000"/>
            <a:chOff x="3979500" y="7000"/>
            <a:chExt cx="5164500" cy="5143500"/>
          </a:xfrm>
        </p:grpSpPr>
        <p:sp>
          <p:nvSpPr>
            <p:cNvPr id="530" name="Google Shape;530;p35">
              <a:extLst>
                <a:ext uri="{FF2B5EF4-FFF2-40B4-BE49-F238E27FC236}">
                  <a16:creationId xmlns:a16="http://schemas.microsoft.com/office/drawing/2014/main" id="{D5C82538-47FD-69C7-487B-BC07147C0A00}"/>
                </a:ext>
              </a:extLst>
            </p:cNvPr>
            <p:cNvSpPr/>
            <p:nvPr/>
          </p:nvSpPr>
          <p:spPr>
            <a:xfrm flipH="1">
              <a:off x="3979500" y="7000"/>
              <a:ext cx="5164500" cy="5143500"/>
            </a:xfrm>
            <a:prstGeom prst="rtTriangle">
              <a:avLst/>
            </a:prstGeom>
            <a:solidFill>
              <a:srgbClr val="6194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1" name="Google Shape;531;p35">
              <a:extLst>
                <a:ext uri="{FF2B5EF4-FFF2-40B4-BE49-F238E27FC236}">
                  <a16:creationId xmlns:a16="http://schemas.microsoft.com/office/drawing/2014/main" id="{56A98EC0-33AA-BB58-5D1D-C23165BF4979}"/>
                </a:ext>
              </a:extLst>
            </p:cNvPr>
            <p:cNvSpPr/>
            <p:nvPr/>
          </p:nvSpPr>
          <p:spPr>
            <a:xfrm rot="-2699590">
              <a:off x="4521184" y="3647078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rgbClr val="CBB7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2" name="Google Shape;532;p35">
              <a:extLst>
                <a:ext uri="{FF2B5EF4-FFF2-40B4-BE49-F238E27FC236}">
                  <a16:creationId xmlns:a16="http://schemas.microsoft.com/office/drawing/2014/main" id="{D64E2D8D-D5BE-BA41-A23D-107D64FA07C7}"/>
                </a:ext>
              </a:extLst>
            </p:cNvPr>
            <p:cNvSpPr/>
            <p:nvPr/>
          </p:nvSpPr>
          <p:spPr>
            <a:xfrm rot="-2699590">
              <a:off x="7184489" y="22450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3" name="Google Shape;533;p35">
              <a:extLst>
                <a:ext uri="{FF2B5EF4-FFF2-40B4-BE49-F238E27FC236}">
                  <a16:creationId xmlns:a16="http://schemas.microsoft.com/office/drawing/2014/main" id="{2AE3D4D9-921F-7853-1762-E6A97E0BDE07}"/>
                </a:ext>
              </a:extLst>
            </p:cNvPr>
            <p:cNvSpPr/>
            <p:nvPr/>
          </p:nvSpPr>
          <p:spPr>
            <a:xfrm rot="-2699590">
              <a:off x="6716516" y="11668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4" name="Google Shape;534;p35">
              <a:extLst>
                <a:ext uri="{FF2B5EF4-FFF2-40B4-BE49-F238E27FC236}">
                  <a16:creationId xmlns:a16="http://schemas.microsoft.com/office/drawing/2014/main" id="{51C402D7-DF1A-8F67-E820-CC253FFC1D48}"/>
                </a:ext>
              </a:extLst>
            </p:cNvPr>
            <p:cNvSpPr/>
            <p:nvPr/>
          </p:nvSpPr>
          <p:spPr>
            <a:xfrm rot="-2699590">
              <a:off x="5940285" y="35715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5" name="Google Shape;535;p35">
              <a:extLst>
                <a:ext uri="{FF2B5EF4-FFF2-40B4-BE49-F238E27FC236}">
                  <a16:creationId xmlns:a16="http://schemas.microsoft.com/office/drawing/2014/main" id="{370FB004-C433-751E-3F7B-612F24F8028E}"/>
                </a:ext>
              </a:extLst>
            </p:cNvPr>
            <p:cNvSpPr/>
            <p:nvPr/>
          </p:nvSpPr>
          <p:spPr>
            <a:xfrm>
              <a:off x="6777914" y="28911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36" name="Google Shape;536;p35">
            <a:extLst>
              <a:ext uri="{FF2B5EF4-FFF2-40B4-BE49-F238E27FC236}">
                <a16:creationId xmlns:a16="http://schemas.microsoft.com/office/drawing/2014/main" id="{6F06AFFD-224E-6864-C247-C00D42B78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7728" y="2630956"/>
            <a:ext cx="5881200" cy="18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sz="5400" dirty="0"/>
              <a:t>L</a:t>
            </a:r>
            <a:endParaRPr sz="5400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8" name="Google Shape;538;p35">
            <a:extLst>
              <a:ext uri="{FF2B5EF4-FFF2-40B4-BE49-F238E27FC236}">
                <a16:creationId xmlns:a16="http://schemas.microsoft.com/office/drawing/2014/main" id="{C33D0301-D2B0-37B6-7230-694452E97F1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2567" y="1040418"/>
            <a:ext cx="1395600" cy="1780400"/>
          </a:xfrm>
          <a:prstGeom prst="rect">
            <a:avLst/>
          </a:prstGeom>
          <a:solidFill>
            <a:srgbClr val="6194E6"/>
          </a:solidFill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03</a:t>
            </a:r>
            <a:endParaRPr>
              <a:solidFill>
                <a:schemeClr val="bg1"/>
              </a:solidFill>
            </a:endParaRPr>
          </a:p>
        </p:txBody>
      </p:sp>
      <p:grpSp>
        <p:nvGrpSpPr>
          <p:cNvPr id="540" name="Google Shape;540;p35">
            <a:extLst>
              <a:ext uri="{FF2B5EF4-FFF2-40B4-BE49-F238E27FC236}">
                <a16:creationId xmlns:a16="http://schemas.microsoft.com/office/drawing/2014/main" id="{E94BF00F-CF3B-B5E1-5634-7838915E1C86}"/>
              </a:ext>
            </a:extLst>
          </p:cNvPr>
          <p:cNvGrpSpPr/>
          <p:nvPr/>
        </p:nvGrpSpPr>
        <p:grpSpPr>
          <a:xfrm>
            <a:off x="7207260" y="1392335"/>
            <a:ext cx="4214149" cy="4388175"/>
            <a:chOff x="5405445" y="1044251"/>
            <a:chExt cx="3160612" cy="3291131"/>
          </a:xfrm>
        </p:grpSpPr>
        <p:sp>
          <p:nvSpPr>
            <p:cNvPr id="541" name="Google Shape;541;p35">
              <a:extLst>
                <a:ext uri="{FF2B5EF4-FFF2-40B4-BE49-F238E27FC236}">
                  <a16:creationId xmlns:a16="http://schemas.microsoft.com/office/drawing/2014/main" id="{FE6A0B45-D85E-FF44-2DAB-5000B19DF456}"/>
                </a:ext>
              </a:extLst>
            </p:cNvPr>
            <p:cNvSpPr/>
            <p:nvPr/>
          </p:nvSpPr>
          <p:spPr>
            <a:xfrm rot="-2700000">
              <a:off x="7675121" y="13796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rgbClr val="CBB7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2" name="Google Shape;542;p35">
              <a:extLst>
                <a:ext uri="{FF2B5EF4-FFF2-40B4-BE49-F238E27FC236}">
                  <a16:creationId xmlns:a16="http://schemas.microsoft.com/office/drawing/2014/main" id="{A1A4BCD6-0F12-92D5-0FCD-13D56FDB0D55}"/>
                </a:ext>
              </a:extLst>
            </p:cNvPr>
            <p:cNvSpPr/>
            <p:nvPr/>
          </p:nvSpPr>
          <p:spPr>
            <a:xfrm rot="-2700000">
              <a:off x="5300209" y="388504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4434762D-6D1B-70AB-13B1-F4F6F539F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67" y="39658"/>
            <a:ext cx="571501" cy="770336"/>
          </a:xfrm>
          <a:prstGeom prst="rect">
            <a:avLst/>
          </a:prstGeom>
        </p:spPr>
      </p:pic>
      <p:pic>
        <p:nvPicPr>
          <p:cNvPr id="3" name="Picture 4" descr="Catalogue de formations 2023 - IUT de Vannes">
            <a:extLst>
              <a:ext uri="{FF2B5EF4-FFF2-40B4-BE49-F238E27FC236}">
                <a16:creationId xmlns:a16="http://schemas.microsoft.com/office/drawing/2014/main" id="{2B7E4A3F-E012-9057-D173-D9E8CA1D7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8" y="62080"/>
            <a:ext cx="997219" cy="74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071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363C-1C6A-8A41-AEE3-D3728AB1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rallélogramme 21">
            <a:extLst>
              <a:ext uri="{FF2B5EF4-FFF2-40B4-BE49-F238E27FC236}">
                <a16:creationId xmlns:a16="http://schemas.microsoft.com/office/drawing/2014/main" id="{7A01E2EA-CAFE-E814-46C8-4B5538E360CE}"/>
              </a:ext>
            </a:extLst>
          </p:cNvPr>
          <p:cNvSpPr/>
          <p:nvPr/>
        </p:nvSpPr>
        <p:spPr>
          <a:xfrm>
            <a:off x="-151362" y="-35321"/>
            <a:ext cx="6605501" cy="373324"/>
          </a:xfrm>
          <a:prstGeom prst="parallelogram">
            <a:avLst/>
          </a:prstGeom>
          <a:solidFill>
            <a:srgbClr val="163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fr-FR" b="1" dirty="0">
                <a:solidFill>
                  <a:schemeClr val="bg1"/>
                </a:solidFill>
                <a:latin typeface="Calibri"/>
              </a:rPr>
              <a:t>Structure du projet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7132DCC-87D6-6B8D-A2C8-C2D0FC571918}"/>
              </a:ext>
            </a:extLst>
          </p:cNvPr>
          <p:cNvSpPr txBox="1"/>
          <p:nvPr/>
        </p:nvSpPr>
        <p:spPr>
          <a:xfrm>
            <a:off x="0" y="6461551"/>
            <a:ext cx="56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</a:t>
            </a:r>
          </a:p>
        </p:txBody>
      </p:sp>
      <p:pic>
        <p:nvPicPr>
          <p:cNvPr id="19" name="Picture 4" descr="Catalogue de formations 2023 - IUT de Vannes">
            <a:extLst>
              <a:ext uri="{FF2B5EF4-FFF2-40B4-BE49-F238E27FC236}">
                <a16:creationId xmlns:a16="http://schemas.microsoft.com/office/drawing/2014/main" id="{9775FE87-E9B7-7699-F697-FA4B5BA91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3775" y="6380031"/>
            <a:ext cx="637292" cy="47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94EFCEB-53ED-1BB4-B715-7FC5076C2742}"/>
              </a:ext>
            </a:extLst>
          </p:cNvPr>
          <p:cNvSpPr/>
          <p:nvPr/>
        </p:nvSpPr>
        <p:spPr>
          <a:xfrm>
            <a:off x="2725443" y="1343999"/>
            <a:ext cx="6732322" cy="7651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7C2D1-0A6A-6293-A249-147A2ED0F487}"/>
              </a:ext>
            </a:extLst>
          </p:cNvPr>
          <p:cNvSpPr/>
          <p:nvPr/>
        </p:nvSpPr>
        <p:spPr>
          <a:xfrm>
            <a:off x="2725443" y="3427139"/>
            <a:ext cx="6732321" cy="765172"/>
          </a:xfrm>
          <a:prstGeom prst="rect">
            <a:avLst/>
          </a:prstGeom>
          <a:solidFill>
            <a:srgbClr val="154A86"/>
          </a:solidFill>
          <a:ln>
            <a:solidFill>
              <a:srgbClr val="154A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FE3B65-7127-9C93-6850-A7B5B643172E}"/>
              </a:ext>
            </a:extLst>
          </p:cNvPr>
          <p:cNvSpPr/>
          <p:nvPr/>
        </p:nvSpPr>
        <p:spPr>
          <a:xfrm>
            <a:off x="2725445" y="4474604"/>
            <a:ext cx="6732320" cy="765172"/>
          </a:xfrm>
          <a:prstGeom prst="rect">
            <a:avLst/>
          </a:prstGeom>
          <a:solidFill>
            <a:srgbClr val="0B2F4E"/>
          </a:solidFill>
          <a:ln>
            <a:solidFill>
              <a:srgbClr val="0B2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D8B72F-A1F2-073C-9BCC-EA5C40B47395}"/>
              </a:ext>
            </a:extLst>
          </p:cNvPr>
          <p:cNvSpPr/>
          <p:nvPr/>
        </p:nvSpPr>
        <p:spPr>
          <a:xfrm>
            <a:off x="2725444" y="2364249"/>
            <a:ext cx="6732320" cy="765172"/>
          </a:xfrm>
          <a:prstGeom prst="rect">
            <a:avLst/>
          </a:prstGeom>
          <a:solidFill>
            <a:srgbClr val="256FD1"/>
          </a:solidFill>
          <a:ln>
            <a:solidFill>
              <a:srgbClr val="256F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D182DAB-8262-C77E-EDCA-B17B0560040F}"/>
              </a:ext>
            </a:extLst>
          </p:cNvPr>
          <p:cNvSpPr/>
          <p:nvPr/>
        </p:nvSpPr>
        <p:spPr>
          <a:xfrm>
            <a:off x="2448757" y="4388784"/>
            <a:ext cx="932156" cy="921058"/>
          </a:xfrm>
          <a:prstGeom prst="ellipse">
            <a:avLst/>
          </a:prstGeom>
          <a:solidFill>
            <a:srgbClr val="0B2F4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81BC847-1BD1-AFAA-2C95-398EF7A9E885}"/>
              </a:ext>
            </a:extLst>
          </p:cNvPr>
          <p:cNvSpPr/>
          <p:nvPr/>
        </p:nvSpPr>
        <p:spPr>
          <a:xfrm>
            <a:off x="2448757" y="2307282"/>
            <a:ext cx="932156" cy="921058"/>
          </a:xfrm>
          <a:prstGeom prst="ellipse">
            <a:avLst/>
          </a:prstGeom>
          <a:solidFill>
            <a:srgbClr val="256FD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51BEDEF-DB73-1221-F8CE-0D48F8B17E89}"/>
              </a:ext>
            </a:extLst>
          </p:cNvPr>
          <p:cNvSpPr/>
          <p:nvPr/>
        </p:nvSpPr>
        <p:spPr>
          <a:xfrm>
            <a:off x="2448757" y="3339636"/>
            <a:ext cx="932156" cy="921058"/>
          </a:xfrm>
          <a:prstGeom prst="ellipse">
            <a:avLst/>
          </a:prstGeom>
          <a:solidFill>
            <a:srgbClr val="154A86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8EBE9BD-5625-8972-86FB-7A702D70CA3F}"/>
              </a:ext>
            </a:extLst>
          </p:cNvPr>
          <p:cNvSpPr/>
          <p:nvPr/>
        </p:nvSpPr>
        <p:spPr>
          <a:xfrm>
            <a:off x="2448757" y="1225432"/>
            <a:ext cx="932156" cy="921058"/>
          </a:xfrm>
          <a:prstGeom prst="ellipse">
            <a:avLst/>
          </a:prstGeom>
          <a:solidFill>
            <a:srgbClr val="3B82F6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CAC5401-23B5-1342-5550-637A30453B7F}"/>
              </a:ext>
            </a:extLst>
          </p:cNvPr>
          <p:cNvSpPr txBox="1"/>
          <p:nvPr/>
        </p:nvSpPr>
        <p:spPr>
          <a:xfrm>
            <a:off x="3737684" y="1221094"/>
            <a:ext cx="581801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2400"/>
              </a:spcBef>
            </a:pPr>
            <a:r>
              <a:rPr lang="fr-FR" sz="2400" b="1" dirty="0">
                <a:solidFill>
                  <a:schemeClr val="bg1"/>
                </a:solidFill>
              </a:rPr>
              <a:t>Excel</a:t>
            </a:r>
          </a:p>
          <a:p>
            <a:pPr>
              <a:lnSpc>
                <a:spcPct val="200000"/>
              </a:lnSpc>
              <a:spcBef>
                <a:spcPts val="2400"/>
              </a:spcBef>
            </a:pPr>
            <a:r>
              <a:rPr lang="fr-FR" sz="2400" b="1" dirty="0">
                <a:solidFill>
                  <a:schemeClr val="bg1"/>
                </a:solidFill>
              </a:rPr>
              <a:t>ETL</a:t>
            </a:r>
          </a:p>
          <a:p>
            <a:pPr>
              <a:lnSpc>
                <a:spcPct val="200000"/>
              </a:lnSpc>
              <a:spcBef>
                <a:spcPts val="2400"/>
              </a:spcBef>
            </a:pPr>
            <a:r>
              <a:rPr lang="fr-FR" sz="2400" b="1" dirty="0">
                <a:solidFill>
                  <a:schemeClr val="bg1"/>
                </a:solidFill>
              </a:rPr>
              <a:t>Application web</a:t>
            </a:r>
          </a:p>
          <a:p>
            <a:pPr>
              <a:lnSpc>
                <a:spcPct val="200000"/>
              </a:lnSpc>
              <a:spcBef>
                <a:spcPts val="2400"/>
              </a:spcBef>
            </a:pPr>
            <a:r>
              <a:rPr lang="fr-FR" sz="2400" b="1" dirty="0" err="1">
                <a:solidFill>
                  <a:schemeClr val="bg1"/>
                </a:solidFill>
              </a:rPr>
              <a:t>JSP</a:t>
            </a:r>
            <a:endParaRPr lang="fr-FR" sz="2400" b="1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  <a:spcBef>
                <a:spcPts val="2400"/>
              </a:spcBef>
            </a:pPr>
            <a:endParaRPr lang="fr-FR" sz="2400" b="1" dirty="0">
              <a:solidFill>
                <a:schemeClr val="bg1"/>
              </a:solidFill>
            </a:endParaRPr>
          </a:p>
          <a:p>
            <a:pPr>
              <a:spcBef>
                <a:spcPts val="2400"/>
              </a:spcBef>
            </a:pPr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96F8EE1-6649-34FA-BFC6-6AF71D01B610}"/>
              </a:ext>
            </a:extLst>
          </p:cNvPr>
          <p:cNvSpPr txBox="1"/>
          <p:nvPr/>
        </p:nvSpPr>
        <p:spPr>
          <a:xfrm>
            <a:off x="2603749" y="1171877"/>
            <a:ext cx="311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55B4748-91BC-DE30-BA13-09B871840F0E}"/>
              </a:ext>
            </a:extLst>
          </p:cNvPr>
          <p:cNvSpPr txBox="1"/>
          <p:nvPr/>
        </p:nvSpPr>
        <p:spPr>
          <a:xfrm>
            <a:off x="2596352" y="4333812"/>
            <a:ext cx="311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3443D5C-94B0-7DA3-46E2-08E1C018D2D7}"/>
              </a:ext>
            </a:extLst>
          </p:cNvPr>
          <p:cNvSpPr txBox="1"/>
          <p:nvPr/>
        </p:nvSpPr>
        <p:spPr>
          <a:xfrm>
            <a:off x="2614103" y="3286243"/>
            <a:ext cx="311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4204C15-151B-152D-5E4C-3139C0036EDA}"/>
              </a:ext>
            </a:extLst>
          </p:cNvPr>
          <p:cNvSpPr txBox="1"/>
          <p:nvPr/>
        </p:nvSpPr>
        <p:spPr>
          <a:xfrm>
            <a:off x="2605228" y="2247561"/>
            <a:ext cx="311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EBE35B-170B-2732-D703-48C0B9BD7D2A}"/>
              </a:ext>
            </a:extLst>
          </p:cNvPr>
          <p:cNvSpPr/>
          <p:nvPr/>
        </p:nvSpPr>
        <p:spPr>
          <a:xfrm>
            <a:off x="0" y="6070708"/>
            <a:ext cx="12192000" cy="790332"/>
          </a:xfrm>
          <a:prstGeom prst="rect">
            <a:avLst/>
          </a:prstGeom>
          <a:solidFill>
            <a:srgbClr val="163E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space réservé du pied de page 9">
            <a:extLst>
              <a:ext uri="{FF2B5EF4-FFF2-40B4-BE49-F238E27FC236}">
                <a16:creationId xmlns:a16="http://schemas.microsoft.com/office/drawing/2014/main" id="{9CCD6E88-39CC-AFEE-3CEE-115CC8B4B5DC}"/>
              </a:ext>
            </a:extLst>
          </p:cNvPr>
          <p:cNvSpPr>
            <a:spLocks noGrp="1"/>
          </p:cNvSpPr>
          <p:nvPr/>
        </p:nvSpPr>
        <p:spPr>
          <a:xfrm>
            <a:off x="1433741" y="6475226"/>
            <a:ext cx="8879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Matéo ESTEBAN - Rocher GOUETH MANIANGA -Arthur Le DEVEHAT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B6AE9D5-785F-30F7-1147-56D59DC15F5F}"/>
              </a:ext>
            </a:extLst>
          </p:cNvPr>
          <p:cNvSpPr txBox="1"/>
          <p:nvPr/>
        </p:nvSpPr>
        <p:spPr>
          <a:xfrm>
            <a:off x="4168837" y="6161083"/>
            <a:ext cx="3086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  <a:spcAft>
                <a:spcPts val="2400"/>
              </a:spcAft>
              <a:tabLst>
                <a:tab pos="444411" algn="l"/>
                <a:tab pos="536468" algn="l"/>
              </a:tabLst>
            </a:pPr>
            <a:r>
              <a:rPr lang="fr-FR" alt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Contexte </a:t>
            </a:r>
            <a:r>
              <a:rPr lang="fr-FR" altLang="fr-FR" sz="1400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altLang="fr-FR" sz="1400" kern="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Structure</a:t>
            </a:r>
            <a:r>
              <a:rPr lang="fr-FR" alt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altLang="fr-FR" sz="1400" b="1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Maquette</a:t>
            </a:r>
            <a:r>
              <a:rPr lang="fr-FR" sz="1400" b="1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endParaRPr lang="fr-F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151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animBg="1"/>
      <p:bldP spid="16" grpId="0" uiExpand="1" animBg="1"/>
      <p:bldP spid="17" grpId="0" uiExpand="1" animBg="1"/>
      <p:bldP spid="20" grpId="0" animBg="1"/>
      <p:bldP spid="2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rallélogramme 21">
            <a:extLst>
              <a:ext uri="{FF2B5EF4-FFF2-40B4-BE49-F238E27FC236}">
                <a16:creationId xmlns:a16="http://schemas.microsoft.com/office/drawing/2014/main" id="{1942F2D4-036B-E811-E075-FE347CD513B1}"/>
              </a:ext>
            </a:extLst>
          </p:cNvPr>
          <p:cNvSpPr/>
          <p:nvPr/>
        </p:nvSpPr>
        <p:spPr>
          <a:xfrm>
            <a:off x="-151362" y="-35321"/>
            <a:ext cx="6605501" cy="373324"/>
          </a:xfrm>
          <a:prstGeom prst="parallelogram">
            <a:avLst/>
          </a:prstGeom>
          <a:solidFill>
            <a:srgbClr val="163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fr-FR" b="1" dirty="0">
                <a:solidFill>
                  <a:schemeClr val="bg1"/>
                </a:solidFill>
                <a:latin typeface="Calibri"/>
              </a:rPr>
              <a:t>Bilan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C507B4-E60B-1DF7-CAD6-F9A2FD9F1EF6}"/>
              </a:ext>
            </a:extLst>
          </p:cNvPr>
          <p:cNvSpPr/>
          <p:nvPr/>
        </p:nvSpPr>
        <p:spPr>
          <a:xfrm>
            <a:off x="0" y="6070708"/>
            <a:ext cx="12192000" cy="790332"/>
          </a:xfrm>
          <a:prstGeom prst="rect">
            <a:avLst/>
          </a:prstGeom>
          <a:solidFill>
            <a:srgbClr val="163E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B0A7B66-9E6A-EE81-404E-E24611E838FB}"/>
              </a:ext>
            </a:extLst>
          </p:cNvPr>
          <p:cNvSpPr txBox="1"/>
          <p:nvPr/>
        </p:nvSpPr>
        <p:spPr>
          <a:xfrm>
            <a:off x="0" y="6461551"/>
            <a:ext cx="569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</a:t>
            </a:r>
            <a:endParaRPr lang="fr-FR"/>
          </a:p>
        </p:txBody>
      </p:sp>
      <p:pic>
        <p:nvPicPr>
          <p:cNvPr id="19" name="Picture 4" descr="Catalogue de formations 2023 - IUT de Vannes">
            <a:extLst>
              <a:ext uri="{FF2B5EF4-FFF2-40B4-BE49-F238E27FC236}">
                <a16:creationId xmlns:a16="http://schemas.microsoft.com/office/drawing/2014/main" id="{492A9E98-CFDB-568E-8DAC-46FE0CDAF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3775" y="6380031"/>
            <a:ext cx="637292" cy="47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9741114-07FD-2EC2-E8C0-FA07F45E22B2}"/>
              </a:ext>
            </a:extLst>
          </p:cNvPr>
          <p:cNvSpPr txBox="1"/>
          <p:nvPr/>
        </p:nvSpPr>
        <p:spPr>
          <a:xfrm>
            <a:off x="3289746" y="6146760"/>
            <a:ext cx="5740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  <a:spcAft>
                <a:spcPts val="2400"/>
              </a:spcAft>
              <a:tabLst>
                <a:tab pos="444411" algn="l"/>
                <a:tab pos="536468" algn="l"/>
              </a:tabLst>
            </a:pPr>
            <a:r>
              <a:rPr lang="fr-FR" alt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B</a:t>
            </a:r>
            <a:r>
              <a:rPr lang="fr-FR" altLang="fr-FR" sz="1400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altLang="fr-FR" sz="1400" kern="0" dirty="0">
                <a:solidFill>
                  <a:srgbClr val="BFBFBF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B</a:t>
            </a:r>
            <a:r>
              <a:rPr lang="fr-FR" altLang="fr-FR" sz="1400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 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B </a:t>
            </a:r>
            <a:r>
              <a:rPr lang="fr-FR" altLang="fr-FR" sz="1400" b="1" kern="0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|</a:t>
            </a:r>
            <a:r>
              <a:rPr lang="fr-FR" altLang="fr-FR" sz="1400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 </a:t>
            </a:r>
            <a:r>
              <a:rPr lang="fr-FR" altLang="fr-FR" sz="1400" b="1" kern="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  <a:sym typeface="Poppins SemiBold"/>
              </a:rPr>
              <a:t>B</a:t>
            </a:r>
            <a:r>
              <a:rPr lang="fr-FR" sz="1400" b="1" kern="0" dirty="0">
                <a:solidFill>
                  <a:schemeClr val="bg1">
                    <a:lumMod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fr-FR" sz="1400" b="1" dirty="0">
                <a:solidFill>
                  <a:srgbClr val="038B9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|</a:t>
            </a:r>
            <a:endParaRPr lang="fr-FR" sz="1400" dirty="0">
              <a:solidFill>
                <a:schemeClr val="bg1"/>
              </a:solidFill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773F1A6-416A-F558-D591-5A9B2B237287}"/>
              </a:ext>
            </a:extLst>
          </p:cNvPr>
          <p:cNvCxnSpPr/>
          <p:nvPr/>
        </p:nvCxnSpPr>
        <p:spPr>
          <a:xfrm>
            <a:off x="5819554" y="1654653"/>
            <a:ext cx="0" cy="4416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4CF7D6D2-0BB6-9F58-4C32-8C60DD2950A1}"/>
              </a:ext>
            </a:extLst>
          </p:cNvPr>
          <p:cNvSpPr txBox="1"/>
          <p:nvPr/>
        </p:nvSpPr>
        <p:spPr>
          <a:xfrm>
            <a:off x="2233578" y="1140141"/>
            <a:ext cx="2112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rgbClr val="3B82F6"/>
                </a:solidFill>
              </a:rPr>
              <a:t>Avantages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15D6B40-2377-FEDF-8D00-6DF3C5A69175}"/>
              </a:ext>
            </a:extLst>
          </p:cNvPr>
          <p:cNvSpPr txBox="1"/>
          <p:nvPr/>
        </p:nvSpPr>
        <p:spPr>
          <a:xfrm>
            <a:off x="7974417" y="1103222"/>
            <a:ext cx="2339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rgbClr val="154A86"/>
                </a:solidFill>
              </a:rPr>
              <a:t>Inconvénients</a:t>
            </a:r>
          </a:p>
        </p:txBody>
      </p:sp>
      <p:sp>
        <p:nvSpPr>
          <p:cNvPr id="2" name="Espace réservé du pied de page 9">
            <a:extLst>
              <a:ext uri="{FF2B5EF4-FFF2-40B4-BE49-F238E27FC236}">
                <a16:creationId xmlns:a16="http://schemas.microsoft.com/office/drawing/2014/main" id="{569E1234-BDC1-F88D-B16F-F5F7A1357CFC}"/>
              </a:ext>
            </a:extLst>
          </p:cNvPr>
          <p:cNvSpPr>
            <a:spLocks noGrp="1"/>
          </p:cNvSpPr>
          <p:nvPr/>
        </p:nvSpPr>
        <p:spPr>
          <a:xfrm>
            <a:off x="1433741" y="6475226"/>
            <a:ext cx="8879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Matéo ESTEBAN - Rocher GOUETH MANIANGA -Arthur Le DEVEHAT </a:t>
            </a:r>
          </a:p>
        </p:txBody>
      </p:sp>
    </p:spTree>
    <p:extLst>
      <p:ext uri="{BB962C8B-B14F-4D97-AF65-F5344CB8AC3E}">
        <p14:creationId xmlns:p14="http://schemas.microsoft.com/office/powerpoint/2010/main" val="2578585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488B3-5D3C-A683-C27E-D1B8CC9F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6D03E8E3-5840-8FCA-1091-5EB51C72C545}"/>
              </a:ext>
            </a:extLst>
          </p:cNvPr>
          <p:cNvCxnSpPr>
            <a:cxnSpLocks/>
          </p:cNvCxnSpPr>
          <p:nvPr/>
        </p:nvCxnSpPr>
        <p:spPr>
          <a:xfrm>
            <a:off x="2473967" y="5586728"/>
            <a:ext cx="7368050" cy="0"/>
          </a:xfrm>
          <a:prstGeom prst="line">
            <a:avLst/>
          </a:prstGeom>
          <a:ln w="88900">
            <a:solidFill>
              <a:srgbClr val="CBB7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44B5DE0F-0A8D-DE94-39AE-4692577899F4}"/>
              </a:ext>
            </a:extLst>
          </p:cNvPr>
          <p:cNvSpPr txBox="1"/>
          <p:nvPr/>
        </p:nvSpPr>
        <p:spPr>
          <a:xfrm>
            <a:off x="2487926" y="5986937"/>
            <a:ext cx="4067260" cy="400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Vendredi 5 décembre - 2025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BA3D865-43C1-369F-FDCC-D338A59D680E}"/>
              </a:ext>
            </a:extLst>
          </p:cNvPr>
          <p:cNvSpPr txBox="1"/>
          <p:nvPr/>
        </p:nvSpPr>
        <p:spPr>
          <a:xfrm>
            <a:off x="686382" y="2492171"/>
            <a:ext cx="10819236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999" b="1" dirty="0">
                <a:solidFill>
                  <a:srgbClr val="073A6A"/>
                </a:solidFill>
              </a:rPr>
              <a:t>Optimisation du Suivi et de l’Analyse </a:t>
            </a:r>
          </a:p>
          <a:p>
            <a:r>
              <a:rPr lang="fr-FR" sz="3999" b="1" dirty="0">
                <a:solidFill>
                  <a:srgbClr val="073A6A"/>
                </a:solidFill>
              </a:rPr>
              <a:t>des Permanences Juridiques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02F1CB-632C-248C-DC77-67BF63DAFBC3}"/>
              </a:ext>
            </a:extLst>
          </p:cNvPr>
          <p:cNvSpPr/>
          <p:nvPr/>
        </p:nvSpPr>
        <p:spPr>
          <a:xfrm>
            <a:off x="0" y="6424300"/>
            <a:ext cx="12192000" cy="4844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254D0B2-2511-EA0D-3E3D-5924BD4FA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497" y="5767912"/>
            <a:ext cx="571501" cy="770336"/>
          </a:xfrm>
          <a:prstGeom prst="rect">
            <a:avLst/>
          </a:prstGeom>
        </p:spPr>
      </p:pic>
      <p:sp>
        <p:nvSpPr>
          <p:cNvPr id="5" name="Sous-titre 2">
            <a:extLst>
              <a:ext uri="{FF2B5EF4-FFF2-40B4-BE49-F238E27FC236}">
                <a16:creationId xmlns:a16="http://schemas.microsoft.com/office/drawing/2014/main" id="{3CA72A67-0532-8C46-1B7D-B90261FB46A5}"/>
              </a:ext>
            </a:extLst>
          </p:cNvPr>
          <p:cNvSpPr>
            <a:spLocks noGrp="1"/>
          </p:cNvSpPr>
          <p:nvPr/>
        </p:nvSpPr>
        <p:spPr>
          <a:xfrm>
            <a:off x="1585992" y="5006538"/>
            <a:ext cx="9144000" cy="5211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Matéo ESTEBAN – Rocher GOUETH MANIANGA – Arthur Le DEVEHAT</a:t>
            </a:r>
          </a:p>
        </p:txBody>
      </p:sp>
      <p:pic>
        <p:nvPicPr>
          <p:cNvPr id="1030" name="Picture 6" descr="Catalogue de formations 2023 - IUT de Vannes">
            <a:extLst>
              <a:ext uri="{FF2B5EF4-FFF2-40B4-BE49-F238E27FC236}">
                <a16:creationId xmlns:a16="http://schemas.microsoft.com/office/drawing/2014/main" id="{E1BBD0D2-3157-9CDA-0EE2-1ACA927BB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553" y="5667195"/>
            <a:ext cx="1353824" cy="101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BSUniversité de Bretagne-Sud // L'expérimentation smartgrid-solenn">
            <a:extLst>
              <a:ext uri="{FF2B5EF4-FFF2-40B4-BE49-F238E27FC236}">
                <a16:creationId xmlns:a16="http://schemas.microsoft.com/office/drawing/2014/main" id="{192CBFA8-35B5-0F79-D02C-D593F1DDE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160" y="5567913"/>
            <a:ext cx="1614676" cy="113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FC2B390-FD14-67B2-DB52-77C46FFF76E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4419"/>
          <a:stretch>
            <a:fillRect/>
          </a:stretch>
        </p:blipFill>
        <p:spPr>
          <a:xfrm>
            <a:off x="0" y="-116776"/>
            <a:ext cx="12191998" cy="18269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4480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3BD4C-F538-CEBD-FED9-7EA90F21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4E76B4-3FDA-16CD-F7DD-E0C6EBC4DB1E}"/>
              </a:ext>
            </a:extLst>
          </p:cNvPr>
          <p:cNvSpPr/>
          <p:nvPr/>
        </p:nvSpPr>
        <p:spPr>
          <a:xfrm>
            <a:off x="3777241" y="307649"/>
            <a:ext cx="8161234" cy="628970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032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2FF67B-5DC4-736C-8008-7865C5186C2F}"/>
              </a:ext>
            </a:extLst>
          </p:cNvPr>
          <p:cNvSpPr/>
          <p:nvPr/>
        </p:nvSpPr>
        <p:spPr>
          <a:xfrm>
            <a:off x="0" y="0"/>
            <a:ext cx="3692236" cy="6856718"/>
          </a:xfrm>
          <a:prstGeom prst="rect">
            <a:avLst/>
          </a:prstGeom>
          <a:solidFill>
            <a:srgbClr val="3B81FF"/>
          </a:solidFill>
          <a:ln>
            <a:solidFill>
              <a:srgbClr val="3B8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836F7C-B9D3-2ADC-ADD7-C327E5511B00}"/>
              </a:ext>
            </a:extLst>
          </p:cNvPr>
          <p:cNvSpPr/>
          <p:nvPr/>
        </p:nvSpPr>
        <p:spPr>
          <a:xfrm>
            <a:off x="810490" y="1219200"/>
            <a:ext cx="2881745" cy="498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E0BECD6-2753-839C-2D07-68AF6C45EA9A}"/>
              </a:ext>
            </a:extLst>
          </p:cNvPr>
          <p:cNvCxnSpPr/>
          <p:nvPr/>
        </p:nvCxnSpPr>
        <p:spPr>
          <a:xfrm>
            <a:off x="475105" y="3525982"/>
            <a:ext cx="2538259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373A1241-7CEB-7D0E-EA21-835C68EF18C7}"/>
              </a:ext>
            </a:extLst>
          </p:cNvPr>
          <p:cNvSpPr txBox="1"/>
          <p:nvPr/>
        </p:nvSpPr>
        <p:spPr>
          <a:xfrm>
            <a:off x="1295400" y="1239981"/>
            <a:ext cx="1646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/>
              <a:t>Sommaire</a:t>
            </a:r>
            <a:endParaRPr lang="fr-FR" sz="2000" b="1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3" name="Zoom de résumé 2">
                <a:extLst>
                  <a:ext uri="{FF2B5EF4-FFF2-40B4-BE49-F238E27FC236}">
                    <a16:creationId xmlns:a16="http://schemas.microsoft.com/office/drawing/2014/main" id="{A7E6238F-DF39-73FB-760C-B46DEABBBF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52918655"/>
                  </p:ext>
                </p:extLst>
              </p:nvPr>
            </p:nvGraphicFramePr>
            <p:xfrm>
              <a:off x="2075977" y="863600"/>
              <a:ext cx="11093091" cy="5993118"/>
            </p:xfrm>
            <a:graphic>
              <a:graphicData uri="http://schemas.microsoft.com/office/powerpoint/2016/summaryzoom">
                <psuz:summaryZm>
                  <psuz:gridLayout/>
                </psuz:summaryZm>
              </a:graphicData>
            </a:graphic>
          </p:graphicFrame>
        </mc:Choice>
        <mc:Fallback>
          <p:grpSp>
            <p:nvGrpSpPr>
              <p:cNvPr id="3" name="Zoom de résumé 2">
                <a:extLst>
                  <a:ext uri="{FF2B5EF4-FFF2-40B4-BE49-F238E27FC236}">
                    <a16:creationId xmlns:a16="http://schemas.microsoft.com/office/drawing/2014/main" id="{A7E6238F-DF39-73FB-760C-B46DEABBBFD5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2075977" y="863600"/>
                <a:ext cx="11093091" cy="5993118"/>
                <a:chOff x="2075977" y="863600"/>
                <a:chExt cx="11093091" cy="5993118"/>
              </a:xfrm>
            </p:grpSpPr>
          </p:grpSp>
        </mc:Fallback>
      </mc:AlternateContent>
      <p:sp>
        <p:nvSpPr>
          <p:cNvPr id="10" name="ZoneTexte 9">
            <a:extLst>
              <a:ext uri="{FF2B5EF4-FFF2-40B4-BE49-F238E27FC236}">
                <a16:creationId xmlns:a16="http://schemas.microsoft.com/office/drawing/2014/main" id="{D0E54554-F831-6CB2-5CAB-808FC7C20BB1}"/>
              </a:ext>
            </a:extLst>
          </p:cNvPr>
          <p:cNvSpPr txBox="1"/>
          <p:nvPr/>
        </p:nvSpPr>
        <p:spPr>
          <a:xfrm>
            <a:off x="5773432" y="2075506"/>
            <a:ext cx="4915904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Bef>
                <a:spcPts val="1800"/>
              </a:spcBef>
              <a:spcAft>
                <a:spcPts val="1800"/>
              </a:spcAft>
              <a:buClr>
                <a:srgbClr val="0B2F4E"/>
              </a:buClr>
              <a:buFont typeface="Wingdings" panose="05000000000000000000" pitchFamily="2" charset="2"/>
              <a:buChar char="§"/>
            </a:pPr>
            <a:r>
              <a:rPr lang="en" sz="4400" dirty="0">
                <a:latin typeface="Aptos Display (En-têtes)"/>
              </a:rPr>
              <a:t>Contexte</a:t>
            </a:r>
          </a:p>
          <a:p>
            <a:pPr marL="571500" indent="-571500">
              <a:spcBef>
                <a:spcPts val="1800"/>
              </a:spcBef>
              <a:spcAft>
                <a:spcPts val="1800"/>
              </a:spcAft>
              <a:buClr>
                <a:srgbClr val="0B2F4E"/>
              </a:buClr>
              <a:buFont typeface="Wingdings" panose="05000000000000000000" pitchFamily="2" charset="2"/>
              <a:buChar char="§"/>
            </a:pPr>
            <a:r>
              <a:rPr lang="en" sz="4400" dirty="0">
                <a:latin typeface="Aptos Display (En-têtes)"/>
                <a:sym typeface="Archivo"/>
              </a:rPr>
              <a:t>Structure</a:t>
            </a:r>
            <a:endParaRPr lang="en" sz="4400" dirty="0">
              <a:latin typeface="Aptos Display (En-têtes)"/>
            </a:endParaRPr>
          </a:p>
          <a:p>
            <a:pPr marL="571500" indent="-571500">
              <a:spcBef>
                <a:spcPts val="1800"/>
              </a:spcBef>
              <a:spcAft>
                <a:spcPts val="1800"/>
              </a:spcAft>
              <a:buClr>
                <a:srgbClr val="0B2F4E"/>
              </a:buClr>
              <a:buFont typeface="Wingdings" panose="05000000000000000000" pitchFamily="2" charset="2"/>
              <a:buChar char="§"/>
            </a:pPr>
            <a:r>
              <a:rPr lang="en" sz="4400" dirty="0">
                <a:latin typeface="Aptos Display (En-têtes)"/>
              </a:rPr>
              <a:t>Maquette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758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56061201A2F04D860E2EA7AF662606" ma:contentTypeVersion="14" ma:contentTypeDescription="Crée un document." ma:contentTypeScope="" ma:versionID="fd457ad291e718ac76f7eec5206918c4">
  <xsd:schema xmlns:xsd="http://www.w3.org/2001/XMLSchema" xmlns:xs="http://www.w3.org/2001/XMLSchema" xmlns:p="http://schemas.microsoft.com/office/2006/metadata/properties" xmlns:ns3="a32aefe3-26b8-4663-86f6-4e3f3da68498" xmlns:ns4="ba1450d2-72b9-459a-8db1-ed9e9f7b940e" targetNamespace="http://schemas.microsoft.com/office/2006/metadata/properties" ma:root="true" ma:fieldsID="d486ac6947a179c7970fcff36da82090" ns3:_="" ns4:_="">
    <xsd:import namespace="a32aefe3-26b8-4663-86f6-4e3f3da68498"/>
    <xsd:import namespace="ba1450d2-72b9-459a-8db1-ed9e9f7b94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2aefe3-26b8-4663-86f6-4e3f3da6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450d2-72b9-459a-8db1-ed9e9f7b940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2aefe3-26b8-4663-86f6-4e3f3da6849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A6F131-4AC8-49E7-AB81-FE3F9398E9C8}">
  <ds:schemaRefs>
    <ds:schemaRef ds:uri="a32aefe3-26b8-4663-86f6-4e3f3da68498"/>
    <ds:schemaRef ds:uri="ba1450d2-72b9-459a-8db1-ed9e9f7b94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F0D9156-8843-4F00-99E6-9993AB0953AA}">
  <ds:schemaRefs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a32aefe3-26b8-4663-86f6-4e3f3da68498"/>
    <ds:schemaRef ds:uri="http://schemas.openxmlformats.org/package/2006/metadata/core-properties"/>
    <ds:schemaRef ds:uri="ba1450d2-72b9-459a-8db1-ed9e9f7b940e"/>
  </ds:schemaRefs>
</ds:datastoreItem>
</file>

<file path=customXml/itemProps3.xml><?xml version="1.0" encoding="utf-8"?>
<ds:datastoreItem xmlns:ds="http://schemas.openxmlformats.org/officeDocument/2006/customXml" ds:itemID="{CE30537B-6B77-4BC9-968E-EBBE9269BB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Grand écran</PresentationFormat>
  <Paragraphs>76</Paragraphs>
  <Slides>16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Aptos Display (En-têtes)</vt:lpstr>
      <vt:lpstr>Archivo</vt:lpstr>
      <vt:lpstr>Arial</vt:lpstr>
      <vt:lpstr>Calibri</vt:lpstr>
      <vt:lpstr>Poppins SemiBold</vt:lpstr>
      <vt:lpstr>Wingdings</vt:lpstr>
      <vt:lpstr>Wingdings 3</vt:lpstr>
      <vt:lpstr>Thème Office</vt:lpstr>
      <vt:lpstr>Présentation PowerPoint</vt:lpstr>
      <vt:lpstr>Présentation PowerPoint</vt:lpstr>
      <vt:lpstr>Contexte &amp; problématiques</vt:lpstr>
      <vt:lpstr>Présentation PowerPoint</vt:lpstr>
      <vt:lpstr>Structure du projet</vt:lpstr>
      <vt:lpstr>Présentation PowerPoint</vt:lpstr>
      <vt:lpstr>Démo de la maquette</vt:lpstr>
      <vt:lpstr>Présentation PowerPoint</vt:lpstr>
      <vt:lpstr>Présentation PowerPoint</vt:lpstr>
      <vt:lpstr>Présentation PowerPoint</vt:lpstr>
      <vt:lpstr>Présentation PowerPoint</vt:lpstr>
      <vt:lpstr>L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ESTEBAN Mateo</dc:creator>
  <cp:lastModifiedBy>Matéo Esteban</cp:lastModifiedBy>
  <cp:revision>3</cp:revision>
  <dcterms:created xsi:type="dcterms:W3CDTF">2025-06-02T13:28:11Z</dcterms:created>
  <dcterms:modified xsi:type="dcterms:W3CDTF">2025-12-05T11:10:53Z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1e8909-4f10-4d11-9c15-52d04c935f8b_Enabled">
    <vt:lpwstr>true</vt:lpwstr>
  </property>
  <property fmtid="{D5CDD505-2E9C-101B-9397-08002B2CF9AE}" pid="3" name="MSIP_Label_021e8909-4f10-4d11-9c15-52d04c935f8b_SetDate">
    <vt:lpwstr>2025-06-02T13:28:36Z</vt:lpwstr>
  </property>
  <property fmtid="{D5CDD505-2E9C-101B-9397-08002B2CF9AE}" pid="4" name="MSIP_Label_021e8909-4f10-4d11-9c15-52d04c935f8b_Method">
    <vt:lpwstr>Privileged</vt:lpwstr>
  </property>
  <property fmtid="{D5CDD505-2E9C-101B-9397-08002B2CF9AE}" pid="5" name="MSIP_Label_021e8909-4f10-4d11-9c15-52d04c935f8b_Name">
    <vt:lpwstr>Public - C1</vt:lpwstr>
  </property>
  <property fmtid="{D5CDD505-2E9C-101B-9397-08002B2CF9AE}" pid="6" name="MSIP_Label_021e8909-4f10-4d11-9c15-52d04c935f8b_SiteId">
    <vt:lpwstr>fb3baf17-c313-474c-8d5d-577a3ec97a32</vt:lpwstr>
  </property>
  <property fmtid="{D5CDD505-2E9C-101B-9397-08002B2CF9AE}" pid="7" name="MSIP_Label_021e8909-4f10-4d11-9c15-52d04c935f8b_ActionId">
    <vt:lpwstr>9823efdf-b329-4160-921a-76e404022533</vt:lpwstr>
  </property>
  <property fmtid="{D5CDD505-2E9C-101B-9397-08002B2CF9AE}" pid="8" name="MSIP_Label_021e8909-4f10-4d11-9c15-52d04c935f8b_ContentBits">
    <vt:lpwstr>0</vt:lpwstr>
  </property>
  <property fmtid="{D5CDD505-2E9C-101B-9397-08002B2CF9AE}" pid="9" name="_AdHocReviewCycleID">
    <vt:i4>-677215581</vt:i4>
  </property>
  <property fmtid="{D5CDD505-2E9C-101B-9397-08002B2CF9AE}" pid="10" name="_NewReviewCycle">
    <vt:lpwstr/>
  </property>
  <property fmtid="{D5CDD505-2E9C-101B-9397-08002B2CF9AE}" pid="11" name="_EmailSubject">
    <vt:lpwstr>Powerpoint final</vt:lpwstr>
  </property>
  <property fmtid="{D5CDD505-2E9C-101B-9397-08002B2CF9AE}" pid="12" name="_AuthorEmail">
    <vt:lpwstr>Mateo.ESTEBAN@ca-finistere.fr</vt:lpwstr>
  </property>
  <property fmtid="{D5CDD505-2E9C-101B-9397-08002B2CF9AE}" pid="13" name="_AuthorEmailDisplayName">
    <vt:lpwstr>ESTEBAN Mateo</vt:lpwstr>
  </property>
  <property fmtid="{D5CDD505-2E9C-101B-9397-08002B2CF9AE}" pid="14" name="ContentTypeId">
    <vt:lpwstr>0x010100CA56061201A2F04D860E2EA7AF662606</vt:lpwstr>
  </property>
  <property fmtid="{D5CDD505-2E9C-101B-9397-08002B2CF9AE}" pid="15" name="_PreviousAdHocReviewCycleID">
    <vt:i4>-1222995890</vt:i4>
  </property>
</Properties>
</file>